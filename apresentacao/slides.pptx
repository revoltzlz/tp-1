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13"/>
    <p:sldId id="257" r:id="rId14"/>
    <p:sldId id="258" r:id="rId12"/>
    <p:sldId id="259" r:id="rId11"/>
    <p:sldId id="260" r:id="rId10"/>
    <p:sldId id="261" r:id="rId9"/>
    <p:sldId id="262" r:id="rId8"/>
    <p:sldId id="263" r:id="rId20"/>
    <p:sldId id="264" r:id="rId21"/>
    <p:sldId id="265" r:id="rId7"/>
    <p:sldId id="266" r:id="rId6"/>
    <p:sldId id="267" r:id="rId5"/>
    <p:sldId id="268" r:id="rId4"/>
    <p:sldId id="269" r:id="rId3"/>
    <p:sldId id="270" r:id="rId2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h2WnpKCt2FTWiCSZTrxAd6f0D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Rosa Dos Santos Diogo" userId="a21369217c07a61f" providerId="LiveId" clId="{8DA5E43E-5B16-41A1-8EB4-16020998943C}"/>
    <pc:docChg chg="modSld">
      <pc:chgData name="Luiza Rosa Dos Santos Diogo" userId="a21369217c07a61f" providerId="LiveId" clId="{8DA5E43E-5B16-41A1-8EB4-16020998943C}" dt="2026-09-03T16:33:57.029" v="37" actId="20577"/>
      <pc:docMkLst>
        <pc:docMk/>
      </pc:docMkLst>
      <pc:sldChg chg="modSp mod">
        <pc:chgData name="Luiza Rosa Dos Santos Diogo" userId="a21369217c07a61f" providerId="LiveId" clId="{8DA5E43E-5B16-41A1-8EB4-16020998943C}" dt="2026-09-03T16:33:57.029" v="37" actId="20577"/>
        <pc:sldMkLst>
          <pc:docMk/>
          <pc:sldMk cId="3668014987" sldId="273"/>
        </pc:sldMkLst>
        <pc:spChg chg="mod">
          <ac:chgData name="Luiza Rosa Dos Santos Diogo" userId="a21369217c07a61f" providerId="LiveId" clId="{8DA5E43E-5B16-41A1-8EB4-16020998943C}" dt="2026-09-03T16:33:57.029" v="37" actId="20577"/>
          <ac:spMkLst>
            <pc:docMk/>
            <pc:sldMk cId="3668014987" sldId="273"/>
            <ac:spMk id="188" creationId="{A8069EB3-1452-9751-5436-A551817726B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a dupla e o tema: o TP1 de AEDS I, o resgate de Pokémon usando TADs e listas encadeadas em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Resumo do enunciado. A regra que mais aparece no código é a da escolha: sempre o treinador mais próximo naquele momento e, no empate, o de menor identificador. A recarga é aleatória entre 1 e 20, então cada execução pode ter números diferentes, mas o fluxo é sempre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ordem de construção seguiu a dependência: sem o Pokémon não há lista, sem a lista não há treinador nem centro. A missão não é um TAD: é o sistema de controle que usa os quatro, como o enunciado pede, separado do programa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template pede as propostas que foram pensadas e os desafios. Os quatro pontos aqui são os que mais mudaram o código: o Id, a distância ao quadrado, a correção do apontador ultimo e a simplificação final do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print é do próprio repositório aberto no VS Code. A cadeia do meio mostra a dependência entre os cabeçalhos: o pokemon.h inclui o coordenadas.h, a pokelista.h inclui o pokemon.h e assim por diante até o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TAD Pokémon tem get e set para os cinco atributos, a inicialização e a impressão. A inicialização reaproveita os set. A impressão usa %03d para a Pokédex sair como 025, igual ao arquivo de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a implementação do Ziviani com célula cabeça. O apontador ultimo existe para a inserção no fim custar O(1). Guardar o Pokémon por valor evita que duas listas apontem para a mesma memória: passar de uma lista para outra é remover (copia para fora) e inserir (copia para dentro), sem free duplo nem ponteiro pendurado.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Sem o apontador ultimo seria preciso andar até o fim a cada inserção, O(n). Com ele são duas atribuições. Como a lista vazia tem primeiro == ultimo apontando para a cabeça, o primeiro Pokémon também entra sem caso especial.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é o ponto mais delicado da lista. A ordem importa: primeiro copia o Pokémon, depois religa o anterior, corrige o ultimo se for o caso e só então libera. A célula cabeça faz o primeiro elemento também ter um anterior, então não há caso especial para remover do começo.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treinador carrega a sua própria PokeLista com o que capturou e ainda não entregou. A captura testa a Pokébola antes e só decrementa depois de inserir, para não perder Pokébola se o malloc falhar.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Centro guarda as duas listas que o enunciado pede. A cada captura a missão remove o Pokémon dos fugitivos. O relatório final é gravado aqui: o Centro abre o relatorio.txt e a PokeLista escreve uma linha por Pokémon.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Visão geral do sistema de controle da missão, em missao.c. Para cada fugitivo, a missão calcula as distâncias da posição atual de cada treinador, escolhe, move, captura e remove da lista de fugas. Depois faz as duas perguntas, nesta ordem. Os próximos slides mostram cada parte no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arquivos oficiais vieram do Moodle em CRLF e sem quebra de linha no fim, e o programa lê os dois sem tratamento especial. O Id é gerado aqui, porque o arquivo não traz Id e o número da Pokédex repete.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enunciado pede a menor distância euclidiana naquele momento, ou seja, da posição atual de cada treinador. As dez distâncias do exemplo do enunciado batem com as que o programa imprime.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ordem dos dois if é o detalhe que faz a saída bater com o exemplo do enunciado. O retornaAoCentro só é chamado se ainda houver fugitivos.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São os dois casos de retorno do enunciado. No primeiro só o treinador sem Pokébolas volta; no segundo os dois voltam e a missão termina.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der, executar ao vivo: mingw32-make e depois .\tp1.exe, digitando testes\teste1.txt. No Linux é make e ./tp1.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Execução real do teste1.txt no terminal do VS Code. À esquerda, o começo da missão e o primeiro resgate, com o empate. À direita, a Rosa fica sem Pokébolas depois do Frogadier, volta, entrega e recarrega; o sorteio desta execução deu 18. A distância 1.41 até o Turtwig mostra que ela voltou mesmo para (0,0).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relatório segue o exemplo do enunciado: número da Pokédex e nome. A ordem é a mesma em qualquer execução do teste1, porque o sorteio muda só quantas Pokébolas cada um recebe.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comparar com o exemplo, fixamos a recarga em 2 numa cópia do projeto; o programa entregue continua sorteando. A conta de memória: as duas listas do Centro e a de cada treinador têm uma célula cabeça, e cada Pokémon passa por três inserções: na fuga, na captura e na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enunciado diz que erros podem e devem ser reportados. Estes quatro pontos exigiram uma decisão nossa, e em todos ficamos com o que o exemplo e os arquivos oficiais mostram.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Fechar com o que o trabalho mostrou: listas encadeadas com célula cabeça, TADs bem separados e testes que conferem o fluxo e a memória.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 em ABNT, em ordem alfabética.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exto sem imagem">
  <p:cSld name="Slide de texto sem imagem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928688" y="1177925"/>
            <a:ext cx="10358437" cy="496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exto com 1 imagem ">
  <p:cSld name="Slide de texto com 1 imagem 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0" y="0"/>
            <a:ext cx="38576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676931" y="365125"/>
            <a:ext cx="4949669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676229" y="1132954"/>
            <a:ext cx="6887433" cy="496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exto com 2 imagens">
  <p:cSld name="Slide de texto com 2 imagens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-1" y="3420000"/>
            <a:ext cx="3857625" cy="3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5"/>
          <p:cNvSpPr>
            <a:spLocks noGrp="1"/>
          </p:cNvSpPr>
          <p:nvPr>
            <p:ph type="pic" idx="3"/>
          </p:nvPr>
        </p:nvSpPr>
        <p:spPr>
          <a:xfrm>
            <a:off x="-1" y="-1"/>
            <a:ext cx="3857626" cy="3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676931" y="365125"/>
            <a:ext cx="4987769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676229" y="1132954"/>
            <a:ext cx="6887433" cy="496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imagens com legenda">
  <p:cSld name="Slide de imagens com legenda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>
            <a:spLocks noGrp="1"/>
          </p:cNvSpPr>
          <p:nvPr>
            <p:ph type="pic" idx="2"/>
          </p:nvPr>
        </p:nvSpPr>
        <p:spPr>
          <a:xfrm>
            <a:off x="2814912" y="3672501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3"/>
          </p:nvPr>
        </p:nvSpPr>
        <p:spPr>
          <a:xfrm>
            <a:off x="2814912" y="1431311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>
            <a:spLocks noGrp="1"/>
          </p:cNvSpPr>
          <p:nvPr>
            <p:ph type="pic" idx="4"/>
          </p:nvPr>
        </p:nvSpPr>
        <p:spPr>
          <a:xfrm>
            <a:off x="6522281" y="3672501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>
            <a:spLocks noGrp="1"/>
          </p:cNvSpPr>
          <p:nvPr>
            <p:ph type="pic" idx="5"/>
          </p:nvPr>
        </p:nvSpPr>
        <p:spPr>
          <a:xfrm>
            <a:off x="6525150" y="1429427"/>
            <a:ext cx="2880000" cy="16200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817780" y="3137838"/>
            <a:ext cx="2877131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6"/>
          </p:nvPr>
        </p:nvSpPr>
        <p:spPr>
          <a:xfrm>
            <a:off x="6522281" y="3135463"/>
            <a:ext cx="2880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7"/>
          </p:nvPr>
        </p:nvSpPr>
        <p:spPr>
          <a:xfrm>
            <a:off x="2814911" y="5382509"/>
            <a:ext cx="2879999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8"/>
          </p:nvPr>
        </p:nvSpPr>
        <p:spPr>
          <a:xfrm>
            <a:off x="6522281" y="5380845"/>
            <a:ext cx="2880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imagem com texto">
  <p:cSld name="Slide de imagem com texto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>
            <a:spLocks noGrp="1"/>
          </p:cNvSpPr>
          <p:nvPr>
            <p:ph type="pic" idx="2"/>
          </p:nvPr>
        </p:nvSpPr>
        <p:spPr>
          <a:xfrm>
            <a:off x="1154971" y="1417208"/>
            <a:ext cx="288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1154315" y="3929463"/>
            <a:ext cx="2881312" cy="145679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>
            <a:spLocks noGrp="1"/>
          </p:cNvSpPr>
          <p:nvPr>
            <p:ph type="pic" idx="3"/>
          </p:nvPr>
        </p:nvSpPr>
        <p:spPr>
          <a:xfrm>
            <a:off x="4608464" y="1417208"/>
            <a:ext cx="288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9"/>
          <p:cNvSpPr txBox="1">
            <a:spLocks noGrp="1"/>
          </p:cNvSpPr>
          <p:nvPr>
            <p:ph type="body" idx="4"/>
          </p:nvPr>
        </p:nvSpPr>
        <p:spPr>
          <a:xfrm>
            <a:off x="4607808" y="3918187"/>
            <a:ext cx="2881312" cy="146806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>
            <a:spLocks noGrp="1"/>
          </p:cNvSpPr>
          <p:nvPr>
            <p:ph type="pic" idx="5"/>
          </p:nvPr>
        </p:nvSpPr>
        <p:spPr>
          <a:xfrm>
            <a:off x="8061957" y="1417208"/>
            <a:ext cx="2880000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 txBox="1">
            <a:spLocks noGrp="1"/>
          </p:cNvSpPr>
          <p:nvPr>
            <p:ph type="body" idx="6"/>
          </p:nvPr>
        </p:nvSpPr>
        <p:spPr>
          <a:xfrm>
            <a:off x="8061301" y="3918187"/>
            <a:ext cx="2881312" cy="146807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livre">
  <p:cSld name="Slide livre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929390" y="410096"/>
            <a:ext cx="6886731" cy="5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imagem">
  <p:cSld name="Slide de imagem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>
            <a:spLocks noGrp="1"/>
          </p:cNvSpPr>
          <p:nvPr>
            <p:ph type="pic" idx="2"/>
          </p:nvPr>
        </p:nvSpPr>
        <p:spPr>
          <a:xfrm>
            <a:off x="693284" y="670595"/>
            <a:ext cx="8933316" cy="5024991"/>
          </a:xfrm>
          <a:prstGeom prst="rect">
            <a:avLst/>
          </a:prstGeom>
          <a:noFill/>
          <a:ln>
            <a:noFill/>
          </a:ln>
        </p:spPr>
      </p:sp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395" y="337592"/>
            <a:ext cx="1923805" cy="33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 sem imagem">
  <p:cSld name="Capa sem image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4716" y="5193346"/>
            <a:ext cx="1957325" cy="3397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834716" y="1069340"/>
            <a:ext cx="4864331" cy="234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ato"/>
              <a:buNone/>
              <a:defRPr sz="44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4716" y="3679017"/>
            <a:ext cx="4864100" cy="129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22586"/>
            <a:ext cx="11887200" cy="908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</a:t>
            </a:r>
            <a:br/>
            <a:r>
              <a:t>PRÁTICO 01</a:t>
            </a:r>
            <a:br/>
            <a:r>
              <a:t>LISTA</a:t>
            </a:r>
            <a:br/>
            <a:r>
              <a:t>ENCADEADA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Algoritmos e Estruturas de Dados I — CCF 211</a:t>
            </a:r>
          </a:p>
          <a:p>
            <a:r>
              <a:t>Gabriel Henrique R. Macedo – 07237</a:t>
            </a:r>
          </a:p>
          <a:p>
            <a:r>
              <a:t>Diego Soares Carvalho – 07225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234440"/>
            <a:ext cx="49834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800" b="0">
                <a:solidFill>
                  <a:srgbClr val="222320"/>
                </a:solidFill>
                <a:latin typeface="Lato"/>
              </a:rPr>
              <a:t>Uma explosão na AEDS fez os Pokémon fugirem do Centro de Pesquisa, e dois treinadores saem para resgatá-los.</a:t>
            </a:r>
          </a:p>
          <a:p>
            <a:pPr algn="l" marL="237744" indent="-237744">
              <a:lnSpc>
                <a:spcPct val="100000"/>
              </a:lnSpc>
              <a:spcBef>
                <a:spcPts val="1600"/>
              </a:spcBef>
              <a:buClr>
                <a:srgbClr val="222320"/>
              </a:buClr>
              <a:buFont typeface="Arial"/>
              <a:buChar char="•"/>
            </a:pPr>
            <a:r>
              <a:rPr sz="1800" b="0">
                <a:solidFill>
                  <a:srgbClr val="222320"/>
                </a:solidFill>
                <a:latin typeface="Lato"/>
              </a:rPr>
              <a:t>O programa lê os treinadores e os fugitivos de um arquivo, conduz a missão e mostra cada passo no terminal.</a:t>
            </a:r>
          </a:p>
          <a:p>
            <a:pPr algn="l" marL="237744" indent="-237744">
              <a:lnSpc>
                <a:spcPct val="100000"/>
              </a:lnSpc>
              <a:spcBef>
                <a:spcPts val="1600"/>
              </a:spcBef>
              <a:buClr>
                <a:srgbClr val="222320"/>
              </a:buClr>
              <a:buFont typeface="Arial"/>
              <a:buChar char="•"/>
            </a:pPr>
            <a:r>
              <a:rPr sz="1800" b="0">
                <a:solidFill>
                  <a:srgbClr val="222320"/>
                </a:solidFill>
                <a:latin typeface="Lato"/>
              </a:rPr>
              <a:t>No fim, o Centro grava um relatório em </a:t>
            </a:r>
            <a:r>
              <a:rPr sz="1691" b="0">
                <a:solidFill>
                  <a:srgbClr val="222320"/>
                </a:solidFill>
                <a:latin typeface="Consolas"/>
              </a:rPr>
              <a:t>.txt</a:t>
            </a:r>
            <a:r>
              <a:rPr sz="1800" b="0">
                <a:solidFill>
                  <a:srgbClr val="222320"/>
                </a:solidFill>
                <a:latin typeface="Lato"/>
              </a:rPr>
              <a:t> com os Pokémon recuperados.</a:t>
            </a:r>
          </a:p>
          <a:p>
            <a:pPr algn="l" marL="237744" indent="-237744">
              <a:lnSpc>
                <a:spcPct val="100000"/>
              </a:lnSpc>
              <a:spcBef>
                <a:spcPts val="1600"/>
              </a:spcBef>
              <a:buClr>
                <a:srgbClr val="222320"/>
              </a:buClr>
              <a:buFont typeface="Arial"/>
              <a:buChar char="•"/>
            </a:pPr>
            <a:r>
              <a:rPr sz="1800" b="0">
                <a:solidFill>
                  <a:srgbClr val="222320"/>
                </a:solidFill>
                <a:latin typeface="Lato"/>
              </a:rPr>
              <a:t>Exigências: as listas são </a:t>
            </a:r>
            <a:r>
              <a:rPr sz="1800" b="1">
                <a:solidFill>
                  <a:srgbClr val="222320"/>
                </a:solidFill>
                <a:latin typeface="Lato"/>
              </a:rPr>
              <a:t>obrigatoriamente encadeadas</a:t>
            </a:r>
            <a:r>
              <a:rPr sz="1800" b="0">
                <a:solidFill>
                  <a:srgbClr val="222320"/>
                </a:solidFill>
                <a:latin typeface="Lato"/>
              </a:rPr>
              <a:t> e tudo é TAD: Pokémon, PokeLista, Treinador e Centro de Pesquisa.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188720"/>
            <a:ext cx="4992624" cy="43434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59" y="1389888"/>
            <a:ext cx="4443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Regras da missão</a:t>
            </a:r>
          </a:p>
        </p:txBody>
      </p:sp>
      <p:sp>
        <p:nvSpPr>
          <p:cNvPr id="6" name="Oval 5"/>
          <p:cNvSpPr/>
          <p:nvPr/>
        </p:nvSpPr>
        <p:spPr>
          <a:xfrm>
            <a:off x="6537959" y="1920240"/>
            <a:ext cx="402336" cy="40233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901952"/>
            <a:ext cx="38496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Vai o treinador </a:t>
            </a:r>
            <a:r>
              <a:rPr sz="1500" b="1">
                <a:solidFill>
                  <a:srgbClr val="222320"/>
                </a:solidFill>
                <a:latin typeface="Lato"/>
              </a:rPr>
              <a:t>mais perto</a:t>
            </a:r>
            <a:r>
              <a:rPr sz="1500" b="0">
                <a:solidFill>
                  <a:srgbClr val="222320"/>
                </a:solidFill>
                <a:latin typeface="Lato"/>
              </a:rPr>
              <a:t> do Pokémon (distância euclidiana). Empate: o de </a:t>
            </a:r>
            <a:r>
              <a:rPr sz="1500" b="1">
                <a:solidFill>
                  <a:srgbClr val="222320"/>
                </a:solidFill>
                <a:latin typeface="Lato"/>
              </a:rPr>
              <a:t>menor identificador</a:t>
            </a:r>
            <a:r>
              <a:rPr sz="1500" b="0">
                <a:solidFill>
                  <a:srgbClr val="222320"/>
                </a:solidFill>
                <a:latin typeface="Lato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537959" y="2807208"/>
            <a:ext cx="402336" cy="40233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788920"/>
            <a:ext cx="38496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Cada captura gasta </a:t>
            </a:r>
            <a:r>
              <a:rPr sz="1500" b="1">
                <a:solidFill>
                  <a:srgbClr val="222320"/>
                </a:solidFill>
                <a:latin typeface="Lato"/>
              </a:rPr>
              <a:t>uma Pokébola</a:t>
            </a:r>
            <a:r>
              <a:rPr sz="1500" b="0">
                <a:solidFill>
                  <a:srgbClr val="222320"/>
                </a:solidFill>
                <a:latin typeface="Lato"/>
              </a:rPr>
              <a:t>, e o Centro é avisado na hora.</a:t>
            </a:r>
          </a:p>
        </p:txBody>
      </p:sp>
      <p:sp>
        <p:nvSpPr>
          <p:cNvPr id="10" name="Oval 9"/>
          <p:cNvSpPr/>
          <p:nvPr/>
        </p:nvSpPr>
        <p:spPr>
          <a:xfrm>
            <a:off x="6537959" y="3694175"/>
            <a:ext cx="402336" cy="40233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675887"/>
            <a:ext cx="38496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Sem Pokébolas: volta ao Centro, entrega o que pegou e recebe de </a:t>
            </a:r>
            <a:r>
              <a:rPr sz="1500" b="1">
                <a:solidFill>
                  <a:srgbClr val="222320"/>
                </a:solidFill>
                <a:latin typeface="Lato"/>
              </a:rPr>
              <a:t>1 a 20</a:t>
            </a:r>
            <a:r>
              <a:rPr sz="1500" b="0">
                <a:solidFill>
                  <a:srgbClr val="222320"/>
                </a:solidFill>
                <a:latin typeface="Lato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537959" y="4581143"/>
            <a:ext cx="402336" cy="40233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562855"/>
            <a:ext cx="38496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Último resgate: os </a:t>
            </a:r>
            <a:r>
              <a:rPr sz="1500" b="1">
                <a:solidFill>
                  <a:srgbClr val="222320"/>
                </a:solidFill>
                <a:latin typeface="Lato"/>
              </a:rPr>
              <a:t>dois voltam</a:t>
            </a:r>
            <a:r>
              <a:rPr sz="1500" b="0">
                <a:solidFill>
                  <a:srgbClr val="222320"/>
                </a:solidFill>
                <a:latin typeface="Lato"/>
              </a:rPr>
              <a:t> e entregam tudo.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Modelagem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207008"/>
            <a:ext cx="10323576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600" b="0">
                <a:solidFill>
                  <a:srgbClr val="222320"/>
                </a:solidFill>
                <a:latin typeface="Lato"/>
              </a:rPr>
              <a:t>Começamos pelos TADs, </a:t>
            </a:r>
            <a:r>
              <a:rPr sz="1600" b="1">
                <a:solidFill>
                  <a:srgbClr val="222320"/>
                </a:solidFill>
                <a:latin typeface="Lato"/>
              </a:rPr>
              <a:t>de baixo para cima</a:t>
            </a:r>
            <a:r>
              <a:rPr sz="1600" b="0">
                <a:solidFill>
                  <a:srgbClr val="222320"/>
                </a:solidFill>
                <a:latin typeface="Lato"/>
              </a:rPr>
              <a:t>: cada um usa só o anterior, então não existe inclusão circular.</a:t>
            </a:r>
          </a:p>
          <a:p>
            <a:pPr algn="l" marL="237744" indent="-237744">
              <a:lnSpc>
                <a:spcPct val="100000"/>
              </a:lnSpc>
              <a:spcBef>
                <a:spcPts val="1000"/>
              </a:spcBef>
              <a:buClr>
                <a:srgbClr val="222320"/>
              </a:buClr>
              <a:buFont typeface="Arial"/>
              <a:buChar char="•"/>
            </a:pPr>
            <a:r>
              <a:rPr sz="1600" b="0">
                <a:solidFill>
                  <a:srgbClr val="222320"/>
                </a:solidFill>
                <a:latin typeface="Lato"/>
              </a:rPr>
              <a:t>O controle da missão ficou num </a:t>
            </a:r>
            <a:r>
              <a:rPr sz="1600" b="1">
                <a:solidFill>
                  <a:srgbClr val="222320"/>
                </a:solidFill>
                <a:latin typeface="Lato"/>
              </a:rPr>
              <a:t>módulo separado</a:t>
            </a:r>
            <a:r>
              <a:rPr sz="1600" b="0">
                <a:solidFill>
                  <a:srgbClr val="222320"/>
                </a:solidFill>
                <a:latin typeface="Lato"/>
              </a:rPr>
              <a:t> (</a:t>
            </a:r>
            <a:r>
              <a:rPr sz="1504" b="0">
                <a:solidFill>
                  <a:srgbClr val="222320"/>
                </a:solidFill>
                <a:latin typeface="Consolas"/>
              </a:rPr>
              <a:t>missao.c</a:t>
            </a:r>
            <a:r>
              <a:rPr sz="1600" b="0">
                <a:solidFill>
                  <a:srgbClr val="222320"/>
                </a:solidFill>
                <a:latin typeface="Lato"/>
              </a:rPr>
              <a:t>); o </a:t>
            </a:r>
            <a:r>
              <a:rPr sz="1504" b="0">
                <a:solidFill>
                  <a:srgbClr val="222320"/>
                </a:solidFill>
                <a:latin typeface="Consolas"/>
              </a:rPr>
              <a:t>main</a:t>
            </a:r>
            <a:r>
              <a:rPr sz="1600" b="0">
                <a:solidFill>
                  <a:srgbClr val="222320"/>
                </a:solidFill>
                <a:latin typeface="Lato"/>
              </a:rPr>
              <a:t> só prepara o sorteio e chama a missão.</a:t>
            </a:r>
          </a:p>
          <a:p>
            <a:pPr algn="l" marL="237744" indent="-237744">
              <a:lnSpc>
                <a:spcPct val="100000"/>
              </a:lnSpc>
              <a:spcBef>
                <a:spcPts val="1000"/>
              </a:spcBef>
              <a:buClr>
                <a:srgbClr val="222320"/>
              </a:buClr>
              <a:buFont typeface="Arial"/>
              <a:buChar char="•"/>
            </a:pPr>
            <a:r>
              <a:rPr sz="1600" b="1">
                <a:solidFill>
                  <a:srgbClr val="222320"/>
                </a:solidFill>
                <a:latin typeface="Lato"/>
              </a:rPr>
              <a:t>Divisão de tarefas:</a:t>
            </a:r>
            <a:r>
              <a:rPr sz="1600" b="0">
                <a:solidFill>
                  <a:srgbClr val="222320"/>
                </a:solidFill>
                <a:latin typeface="Lato"/>
              </a:rPr>
              <a:t> escrevemos o código juntos, um digitando e o outro revisando, alternando a cada módulo. Assim os dois sabem explicar o projeto inteiro.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" y="3291840"/>
            <a:ext cx="2286000" cy="19659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456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Pokémon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858768"/>
            <a:ext cx="1920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Id, nº da Pokédex, nome, tipo e localização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Operações:</a:t>
            </a:r>
            <a:r>
              <a:rPr sz="1350" b="0">
                <a:solidFill>
                  <a:srgbClr val="222320"/>
                </a:solidFill>
                <a:latin typeface="Lato"/>
              </a:rPr>
              <a:t> get, set, inicializar, imprimir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82696" y="4274820"/>
            <a:ext cx="265176" cy="0"/>
          </a:xfrm>
          <a:prstGeom prst="line">
            <a:avLst/>
          </a:prstGeom>
          <a:ln w="2540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11880" y="3291840"/>
            <a:ext cx="2286000" cy="19659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3456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PokeLista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858768"/>
            <a:ext cx="1920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lista encadeada com célula cabeça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Operações:</a:t>
            </a:r>
            <a:r>
              <a:rPr sz="1350" b="0">
                <a:solidFill>
                  <a:srgbClr val="222320"/>
                </a:solidFill>
                <a:latin typeface="Lato"/>
              </a:rPr>
              <a:t> inserir, remover, buscar por Id, imprimir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61888" y="4274820"/>
            <a:ext cx="265176" cy="0"/>
          </a:xfrm>
          <a:prstGeom prst="line">
            <a:avLst/>
          </a:prstGeom>
          <a:ln w="2540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91072" y="3291840"/>
            <a:ext cx="2286000" cy="19659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456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Treinador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858768"/>
            <a:ext cx="1920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identificador, nome, posição, PokeLista e Pokébolas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Operações:</a:t>
            </a:r>
            <a:r>
              <a:rPr sz="1350" b="0">
                <a:solidFill>
                  <a:srgbClr val="222320"/>
                </a:solidFill>
                <a:latin typeface="Lato"/>
              </a:rPr>
              <a:t> mover, capturar, retirar, imprimir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4274820"/>
            <a:ext cx="265176" cy="0"/>
          </a:xfrm>
          <a:prstGeom prst="line">
            <a:avLst/>
          </a:prstGeom>
          <a:ln w="2540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70264" y="3291840"/>
            <a:ext cx="2286000" cy="19659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3456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Centro de Pesquisa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3858768"/>
            <a:ext cx="1920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fugitivos e recuperados, em (0,0)</a:t>
            </a:r>
          </a:p>
          <a:p>
            <a:pPr algn="l"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Operações:</a:t>
            </a:r>
            <a:r>
              <a:rPr sz="1350" b="0">
                <a:solidFill>
                  <a:srgbClr val="222320"/>
                </a:solidFill>
                <a:latin typeface="Lato"/>
              </a:rPr>
              <a:t> registrar, remover, receber, recarregar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330952"/>
            <a:ext cx="103235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Os quatro TADs pedidos: cada seta indica que o da direita usa o da esquerda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Propostas e desafios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" y="1207008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1288" y="1426464"/>
            <a:ext cx="384048" cy="384048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2495" y="1453896"/>
            <a:ext cx="4041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O Id do Pokémon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2495" y="1901952"/>
            <a:ext cx="4041648" cy="1307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Pensamos em usar o número da Pokédex, mas ele repete: o </a:t>
            </a:r>
            <a:r>
              <a:rPr sz="1410" b="0">
                <a:solidFill>
                  <a:srgbClr val="222320"/>
                </a:solidFill>
                <a:latin typeface="Consolas"/>
              </a:rPr>
              <a:t>teste2.txt</a:t>
            </a:r>
            <a:r>
              <a:rPr sz="1500" b="0">
                <a:solidFill>
                  <a:srgbClr val="222320"/>
                </a:solidFill>
                <a:latin typeface="Lato"/>
              </a:rPr>
              <a:t> traz quatro Pikachus 025. O Id virou a </a:t>
            </a:r>
            <a:r>
              <a:rPr sz="1500" b="1">
                <a:solidFill>
                  <a:srgbClr val="222320"/>
                </a:solidFill>
                <a:latin typeface="Lato"/>
              </a:rPr>
              <a:t>ordem de leitura</a:t>
            </a:r>
            <a:r>
              <a:rPr sz="1500" b="0">
                <a:solidFill>
                  <a:srgbClr val="222320"/>
                </a:solidFill>
                <a:latin typeface="Lato"/>
              </a:rPr>
              <a:t> (1, 2, 3...).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207008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83096" y="1426464"/>
            <a:ext cx="384048" cy="384048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4" y="1453896"/>
            <a:ext cx="4041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A comparação de distâncias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4" y="1901952"/>
            <a:ext cx="4041648" cy="1307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Em vez de comparar raízes, comparamos o </a:t>
            </a:r>
            <a:r>
              <a:rPr sz="1500" b="1">
                <a:solidFill>
                  <a:srgbClr val="222320"/>
                </a:solidFill>
                <a:latin typeface="Lato"/>
              </a:rPr>
              <a:t>quadrado</a:t>
            </a:r>
            <a:r>
              <a:rPr sz="1500" b="0">
                <a:solidFill>
                  <a:srgbClr val="222320"/>
                </a:solidFill>
                <a:latin typeface="Lato"/>
              </a:rPr>
              <a:t> da distância. A ordem é a mesma, o empate fica exato e a raiz só aparece na impressão.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566159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785615"/>
            <a:ext cx="384048" cy="384048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5" y="3813048"/>
            <a:ext cx="4041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A remoção na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5" y="4261103"/>
            <a:ext cx="4041648" cy="1307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O desafio foi o apontador </a:t>
            </a:r>
            <a:r>
              <a:rPr sz="1410" b="0">
                <a:solidFill>
                  <a:srgbClr val="222320"/>
                </a:solidFill>
                <a:latin typeface="Consolas"/>
              </a:rPr>
              <a:t>ultimo</a:t>
            </a:r>
            <a:r>
              <a:rPr sz="1500" b="0">
                <a:solidFill>
                  <a:srgbClr val="222320"/>
                </a:solidFill>
                <a:latin typeface="Lato"/>
              </a:rPr>
              <a:t>: se o removido era o último, ele precisa voltar para o anterior </a:t>
            </a:r>
            <a:r>
              <a:rPr sz="1500" b="1">
                <a:solidFill>
                  <a:srgbClr val="222320"/>
                </a:solidFill>
                <a:latin typeface="Lato"/>
              </a:rPr>
              <a:t>antes do free</a:t>
            </a:r>
            <a:r>
              <a:rPr sz="1500" b="0">
                <a:solidFill>
                  <a:srgbClr val="222320"/>
                </a:solidFill>
                <a:latin typeface="Lato"/>
              </a:rPr>
              <a:t>, senão aponta para memória liberada.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566159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3785615"/>
            <a:ext cx="384048" cy="384048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4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3813048"/>
            <a:ext cx="4041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Uma versão mais simples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4261103"/>
            <a:ext cx="4041648" cy="1307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Começamos com menu e muitas validações. Na revisão, enxugamos para o que o enunciado pede: o programa pede o caminho do arquivo e roda a missão.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projeto</a:t>
            </a:r>
          </a:p>
        </p:txBody>
      </p:sp>
      <p:pic>
        <p:nvPicPr>
          <p:cNvPr id="3" name="Picture 2" descr="arv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2480153" cy="411480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46884" y="5385816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01 – O projeto no VS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1207008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222320"/>
                </a:solidFill>
                <a:latin typeface="Consolas"/>
              </a:rPr>
              <a:t>coordenadas.h</a:t>
            </a:r>
            <a:r>
              <a:rPr sz="1250" b="1">
                <a:solidFill>
                  <a:srgbClr val="222320"/>
                </a:solidFill>
                <a:latin typeface="Lato"/>
              </a:rPr>
              <a:t>  </a:t>
            </a:r>
            <a:r>
              <a:rPr sz="1200" b="0">
                <a:solidFill>
                  <a:srgbClr val="6E6C66"/>
                </a:solidFill>
                <a:latin typeface="Lato"/>
              </a:rPr>
              <a:t>o par (X,Y)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63540" y="1673352"/>
            <a:ext cx="0" cy="132588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1815084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222320"/>
                </a:solidFill>
                <a:latin typeface="Consolas"/>
              </a:rPr>
              <a:t>pokemon.h</a:t>
            </a:r>
            <a:r>
              <a:rPr sz="1250" b="1">
                <a:solidFill>
                  <a:srgbClr val="222320"/>
                </a:solidFill>
                <a:latin typeface="Lato"/>
              </a:rPr>
              <a:t>  </a:t>
            </a:r>
            <a:r>
              <a:rPr sz="1200" b="0">
                <a:solidFill>
                  <a:srgbClr val="6E6C66"/>
                </a:solidFill>
                <a:latin typeface="Lato"/>
              </a:rPr>
              <a:t>TAD Pokémon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63540" y="2281428"/>
            <a:ext cx="0" cy="132588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2423160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222320"/>
                </a:solidFill>
                <a:latin typeface="Consolas"/>
              </a:rPr>
              <a:t>pokelista.h</a:t>
            </a:r>
            <a:r>
              <a:rPr sz="1250" b="1">
                <a:solidFill>
                  <a:srgbClr val="222320"/>
                </a:solidFill>
                <a:latin typeface="Lato"/>
              </a:rPr>
              <a:t>  </a:t>
            </a:r>
            <a:r>
              <a:rPr sz="1200" b="0">
                <a:solidFill>
                  <a:srgbClr val="6E6C66"/>
                </a:solidFill>
                <a:latin typeface="Lato"/>
              </a:rPr>
              <a:t>TAD PokeLista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63540" y="2889504"/>
            <a:ext cx="0" cy="132588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77639" y="3031236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222320"/>
                </a:solidFill>
                <a:latin typeface="Consolas"/>
              </a:rPr>
              <a:t>treinador.h</a:t>
            </a:r>
            <a:r>
              <a:rPr sz="1250" b="1">
                <a:solidFill>
                  <a:srgbClr val="222320"/>
                </a:solidFill>
                <a:latin typeface="Lato"/>
              </a:rPr>
              <a:t>  </a:t>
            </a:r>
            <a:r>
              <a:rPr sz="1200" b="0">
                <a:solidFill>
                  <a:srgbClr val="6E6C66"/>
                </a:solidFill>
                <a:latin typeface="Lato"/>
              </a:rPr>
              <a:t>TAD Treinador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63540" y="3497580"/>
            <a:ext cx="0" cy="132588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77639" y="3639312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222320"/>
                </a:solidFill>
                <a:latin typeface="Consolas"/>
              </a:rPr>
              <a:t>pokecenter.h</a:t>
            </a:r>
            <a:r>
              <a:rPr sz="1250" b="1">
                <a:solidFill>
                  <a:srgbClr val="222320"/>
                </a:solidFill>
                <a:latin typeface="Lato"/>
              </a:rPr>
              <a:t>  </a:t>
            </a:r>
            <a:r>
              <a:rPr sz="1200" b="0">
                <a:solidFill>
                  <a:srgbClr val="6E6C66"/>
                </a:solidFill>
                <a:latin typeface="Lato"/>
              </a:rPr>
              <a:t>TAD Centro de Pesquisa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63540" y="4105656"/>
            <a:ext cx="0" cy="132588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77639" y="4247388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222320"/>
                </a:solidFill>
                <a:latin typeface="Consolas"/>
              </a:rPr>
              <a:t>missao.h</a:t>
            </a:r>
            <a:r>
              <a:rPr sz="1250" b="1">
                <a:solidFill>
                  <a:srgbClr val="222320"/>
                </a:solidFill>
                <a:latin typeface="Lato"/>
              </a:rPr>
              <a:t>  </a:t>
            </a:r>
            <a:r>
              <a:rPr sz="1200" b="0">
                <a:solidFill>
                  <a:srgbClr val="6E6C66"/>
                </a:solidFill>
                <a:latin typeface="Lato"/>
              </a:rPr>
              <a:t>controle da missão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63540" y="4713732"/>
            <a:ext cx="0" cy="132588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77639" y="4855464"/>
            <a:ext cx="2971800" cy="457200"/>
          </a:xfrm>
          <a:prstGeom prst="roundRect">
            <a:avLst>
              <a:gd name="adj" fmla="val 18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175" b="1">
                <a:solidFill>
                  <a:srgbClr val="FFFFFF"/>
                </a:solidFill>
                <a:latin typeface="Consolas"/>
              </a:rPr>
              <a:t>main.c</a:t>
            </a:r>
            <a:r>
              <a:rPr sz="1250" b="1">
                <a:solidFill>
                  <a:srgbClr val="FFFFFF"/>
                </a:solidFill>
                <a:latin typeface="Lato"/>
              </a:rPr>
              <a:t>  </a:t>
            </a:r>
            <a:r>
              <a:rPr sz="1200" b="0">
                <a:solidFill>
                  <a:srgbClr val="FFFFFF"/>
                </a:solidFill>
                <a:latin typeface="Lato"/>
              </a:rPr>
              <a:t>programa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408676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cada arquivo inclui o de cima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234440"/>
            <a:ext cx="3895344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10" b="0">
                <a:solidFill>
                  <a:srgbClr val="222320"/>
                </a:solidFill>
                <a:latin typeface="Consolas"/>
              </a:rPr>
              <a:t>include/</a:t>
            </a:r>
            <a:r>
              <a:rPr sz="1500" b="0">
                <a:solidFill>
                  <a:srgbClr val="222320"/>
                </a:solidFill>
                <a:latin typeface="Lato"/>
              </a:rPr>
              <a:t> tem os seis </a:t>
            </a:r>
            <a:r>
              <a:rPr sz="1410" b="0">
                <a:solidFill>
                  <a:srgbClr val="222320"/>
                </a:solidFill>
                <a:latin typeface="Consolas"/>
              </a:rPr>
              <a:t>.h</a:t>
            </a:r>
            <a:r>
              <a:rPr sz="1500" b="0">
                <a:solidFill>
                  <a:srgbClr val="222320"/>
                </a:solidFill>
                <a:latin typeface="Lato"/>
              </a:rPr>
              <a:t> e </a:t>
            </a:r>
            <a:r>
              <a:rPr sz="1410" b="0">
                <a:solidFill>
                  <a:srgbClr val="222320"/>
                </a:solidFill>
                <a:latin typeface="Consolas"/>
              </a:rPr>
              <a:t>src/</a:t>
            </a:r>
            <a:r>
              <a:rPr sz="1500" b="0">
                <a:solidFill>
                  <a:srgbClr val="222320"/>
                </a:solidFill>
                <a:latin typeface="Lato"/>
              </a:rPr>
              <a:t> os cinco </a:t>
            </a:r>
            <a:r>
              <a:rPr sz="1410" b="0">
                <a:solidFill>
                  <a:srgbClr val="222320"/>
                </a:solidFill>
                <a:latin typeface="Consolas"/>
              </a:rPr>
              <a:t>.c</a:t>
            </a:r>
            <a:r>
              <a:rPr sz="1500" b="0">
                <a:solidFill>
                  <a:srgbClr val="222320"/>
                </a:solidFill>
                <a:latin typeface="Lato"/>
              </a:rPr>
              <a:t>. Cada </a:t>
            </a:r>
            <a:r>
              <a:rPr sz="1410" b="0">
                <a:solidFill>
                  <a:srgbClr val="222320"/>
                </a:solidFill>
                <a:latin typeface="Consolas"/>
              </a:rPr>
              <a:t>.c</a:t>
            </a:r>
            <a:r>
              <a:rPr sz="1500" b="0">
                <a:solidFill>
                  <a:srgbClr val="222320"/>
                </a:solidFill>
                <a:latin typeface="Lato"/>
              </a:rPr>
              <a:t> inclui só o seu </a:t>
            </a:r>
            <a:r>
              <a:rPr sz="1410" b="0">
                <a:solidFill>
                  <a:srgbClr val="222320"/>
                </a:solidFill>
                <a:latin typeface="Consolas"/>
              </a:rPr>
              <a:t>.h</a:t>
            </a:r>
            <a:r>
              <a:rPr sz="15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12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Os </a:t>
            </a:r>
            <a:r>
              <a:rPr sz="1410" b="0">
                <a:solidFill>
                  <a:srgbClr val="222320"/>
                </a:solidFill>
                <a:latin typeface="Consolas"/>
              </a:rPr>
              <a:t>.h</a:t>
            </a:r>
            <a:r>
              <a:rPr sz="1500" b="0">
                <a:solidFill>
                  <a:srgbClr val="222320"/>
                </a:solidFill>
                <a:latin typeface="Lato"/>
              </a:rPr>
              <a:t> formam uma cadeia em linha reta: não há inclusão circular.</a:t>
            </a:r>
          </a:p>
          <a:p>
            <a:pPr algn="l" marL="237744" indent="-237744">
              <a:lnSpc>
                <a:spcPct val="100000"/>
              </a:lnSpc>
              <a:spcBef>
                <a:spcPts val="12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O </a:t>
            </a:r>
            <a:r>
              <a:rPr sz="1410" b="0">
                <a:solidFill>
                  <a:srgbClr val="222320"/>
                </a:solidFill>
                <a:latin typeface="Consolas"/>
              </a:rPr>
              <a:t>Makefile</a:t>
            </a:r>
            <a:r>
              <a:rPr sz="1500" b="0">
                <a:solidFill>
                  <a:srgbClr val="222320"/>
                </a:solidFill>
                <a:latin typeface="Lato"/>
              </a:rPr>
              <a:t> compila tudo com </a:t>
            </a:r>
            <a:r>
              <a:rPr sz="1410" b="0">
                <a:solidFill>
                  <a:srgbClr val="222320"/>
                </a:solidFill>
                <a:latin typeface="Consolas"/>
              </a:rPr>
              <a:t>-Wall -Wextra -std=c99</a:t>
            </a:r>
            <a:r>
              <a:rPr sz="1500" b="0">
                <a:solidFill>
                  <a:srgbClr val="222320"/>
                </a:solidFill>
                <a:latin typeface="Lato"/>
              </a:rPr>
              <a:t>: </a:t>
            </a:r>
            <a:r>
              <a:rPr sz="1410" b="0">
                <a:solidFill>
                  <a:srgbClr val="222320"/>
                </a:solidFill>
                <a:latin typeface="Consolas"/>
              </a:rPr>
              <a:t>mingw32-make</a:t>
            </a:r>
            <a:r>
              <a:rPr sz="1500" b="0">
                <a:solidFill>
                  <a:srgbClr val="222320"/>
                </a:solidFill>
                <a:latin typeface="Lato"/>
              </a:rPr>
              <a:t> no Windows, </a:t>
            </a:r>
            <a:r>
              <a:rPr sz="1410" b="0">
                <a:solidFill>
                  <a:srgbClr val="222320"/>
                </a:solidFill>
                <a:latin typeface="Consolas"/>
              </a:rPr>
              <a:t>make</a:t>
            </a:r>
            <a:r>
              <a:rPr sz="1500" b="0">
                <a:solidFill>
                  <a:srgbClr val="222320"/>
                </a:solidFill>
                <a:latin typeface="Lato"/>
              </a:rPr>
              <a:t> no Linux.</a:t>
            </a:r>
          </a:p>
          <a:p>
            <a:pPr algn="l" marL="237744" indent="-237744">
              <a:lnSpc>
                <a:spcPct val="100000"/>
              </a:lnSpc>
              <a:spcBef>
                <a:spcPts val="1200"/>
              </a:spcBef>
              <a:buClr>
                <a:srgbClr val="222320"/>
              </a:buClr>
              <a:buFont typeface="Arial"/>
              <a:buChar char="•"/>
            </a:pPr>
            <a:r>
              <a:rPr sz="1410" b="0">
                <a:solidFill>
                  <a:srgbClr val="222320"/>
                </a:solidFill>
                <a:latin typeface="Consolas"/>
              </a:rPr>
              <a:t>testes/</a:t>
            </a:r>
            <a:r>
              <a:rPr sz="1500" b="0">
                <a:solidFill>
                  <a:srgbClr val="222320"/>
                </a:solidFill>
                <a:latin typeface="Lato"/>
              </a:rPr>
              <a:t> traz os dois arquivos oficiais do Moodle.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TAD Pokémon</a:t>
            </a:r>
          </a:p>
        </p:txBody>
      </p:sp>
      <p:pic>
        <p:nvPicPr>
          <p:cNvPr id="3" name="Picture 2" descr="pokemon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983480" cy="2240815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3511831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02 – A struct, em include/pokemon.h</a:t>
            </a:r>
          </a:p>
        </p:txBody>
      </p:sp>
      <p:pic>
        <p:nvPicPr>
          <p:cNvPr id="5" name="Picture 4" descr="pokem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188720"/>
            <a:ext cx="4983480" cy="2065751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272784" y="3336767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03 – A inicialização chama os set, em src/pokemon.c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932455"/>
            <a:ext cx="10323576" cy="1755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Os cinco atributos do enunciado; a localização usa o tipo </a:t>
            </a:r>
            <a:r>
              <a:rPr sz="1410" b="0">
                <a:solidFill>
                  <a:srgbClr val="222320"/>
                </a:solidFill>
                <a:latin typeface="Consolas"/>
              </a:rPr>
              <a:t>Coordenada</a:t>
            </a:r>
            <a:r>
              <a:rPr sz="15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O </a:t>
            </a:r>
            <a:r>
              <a:rPr sz="1500" b="1">
                <a:solidFill>
                  <a:srgbClr val="222320"/>
                </a:solidFill>
                <a:latin typeface="Lato"/>
              </a:rPr>
              <a:t>Id é único</a:t>
            </a:r>
            <a:r>
              <a:rPr sz="1500" b="0">
                <a:solidFill>
                  <a:srgbClr val="222320"/>
                </a:solidFill>
                <a:latin typeface="Lato"/>
              </a:rPr>
              <a:t> e vem da ordem de leitura. O número da Pokédex pode repetir.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10" b="0">
                <a:solidFill>
                  <a:srgbClr val="222320"/>
                </a:solidFill>
                <a:latin typeface="Consolas"/>
              </a:rPr>
              <a:t>pokemonInicializar</a:t>
            </a:r>
            <a:r>
              <a:rPr sz="1500" b="0">
                <a:solidFill>
                  <a:srgbClr val="222320"/>
                </a:solidFill>
                <a:latin typeface="Lato"/>
              </a:rPr>
              <a:t> preenche tudo chamando os próprios </a:t>
            </a:r>
            <a:r>
              <a:rPr sz="1410" b="0">
                <a:solidFill>
                  <a:srgbClr val="222320"/>
                </a:solidFill>
                <a:latin typeface="Consolas"/>
              </a:rPr>
              <a:t>set</a:t>
            </a:r>
            <a:r>
              <a:rPr sz="1500" b="0">
                <a:solidFill>
                  <a:srgbClr val="222320"/>
                </a:solidFill>
                <a:latin typeface="Lato"/>
              </a:rPr>
              <a:t>, então nenhum deles fica sem uso.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Os </a:t>
            </a:r>
            <a:r>
              <a:rPr sz="1410" b="0">
                <a:solidFill>
                  <a:srgbClr val="222320"/>
                </a:solidFill>
                <a:latin typeface="Consolas"/>
              </a:rPr>
              <a:t>set</a:t>
            </a:r>
            <a:r>
              <a:rPr sz="1500" b="0">
                <a:solidFill>
                  <a:srgbClr val="222320"/>
                </a:solidFill>
                <a:latin typeface="Lato"/>
              </a:rPr>
              <a:t> de nome e tipo usam </a:t>
            </a:r>
            <a:r>
              <a:rPr sz="1410" b="0">
                <a:solidFill>
                  <a:srgbClr val="222320"/>
                </a:solidFill>
                <a:latin typeface="Consolas"/>
              </a:rPr>
              <a:t>strncpy</a:t>
            </a:r>
            <a:r>
              <a:rPr sz="1500" b="0">
                <a:solidFill>
                  <a:srgbClr val="222320"/>
                </a:solidFill>
                <a:latin typeface="Lato"/>
              </a:rPr>
              <a:t> com </a:t>
            </a:r>
            <a:r>
              <a:rPr sz="1410" b="0">
                <a:solidFill>
                  <a:srgbClr val="222320"/>
                </a:solidFill>
                <a:latin typeface="Consolas"/>
              </a:rPr>
              <a:t>'\0'</a:t>
            </a:r>
            <a:r>
              <a:rPr sz="1500" b="0">
                <a:solidFill>
                  <a:srgbClr val="222320"/>
                </a:solidFill>
                <a:latin typeface="Lato"/>
              </a:rPr>
              <a:t> explícito: um texto maior que o vetor é cortado, sem estourar.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TAD PokeLista: a estrutura</a:t>
            </a:r>
          </a:p>
        </p:txBody>
      </p:sp>
      <p:pic>
        <p:nvPicPr>
          <p:cNvPr id="3" name="Picture 2" descr="pokelista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892040" cy="2664874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3935890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04 – A célula e a lista, em include/pokelista.h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2286000"/>
            <a:ext cx="868680" cy="512064"/>
          </a:xfrm>
          <a:prstGeom prst="rect">
            <a:avLst/>
          </a:prstGeom>
          <a:solidFill>
            <a:srgbClr val="F8EFC8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cabeça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2286000"/>
            <a:ext cx="274320" cy="512064"/>
          </a:xfrm>
          <a:prstGeom prst="rect">
            <a:avLst/>
          </a:prstGeom>
          <a:solidFill>
            <a:srgbClr val="F3F3F3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6892" y="2500884"/>
            <a:ext cx="82296" cy="8229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44383" y="2286000"/>
            <a:ext cx="868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Axew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513063" y="2286000"/>
            <a:ext cx="274320" cy="512064"/>
          </a:xfrm>
          <a:prstGeom prst="rect">
            <a:avLst/>
          </a:prstGeom>
          <a:solidFill>
            <a:srgbClr val="F3F3F3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09076" y="2500884"/>
            <a:ext cx="82296" cy="8229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6567" y="2286000"/>
            <a:ext cx="868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Frogadier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85247" y="2286000"/>
            <a:ext cx="274320" cy="512064"/>
          </a:xfrm>
          <a:prstGeom prst="rect">
            <a:avLst/>
          </a:prstGeom>
          <a:solidFill>
            <a:srgbClr val="F3F3F3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81259" y="2500884"/>
            <a:ext cx="82296" cy="8229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542032"/>
            <a:ext cx="448056" cy="0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50224" y="2542032"/>
            <a:ext cx="448056" cy="0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22407" y="2542032"/>
            <a:ext cx="393192" cy="0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61319" y="242316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0">
                <a:solidFill>
                  <a:srgbClr val="222320"/>
                </a:solidFill>
                <a:latin typeface="Lato"/>
              </a:rPr>
              <a:t>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3620" y="1325880"/>
            <a:ext cx="1005840" cy="384048"/>
          </a:xfrm>
          <a:prstGeom prst="roundRect">
            <a:avLst>
              <a:gd name="adj" fmla="val 20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buNone/>
            </a:pPr>
            <a:r>
              <a:rPr sz="1128" b="1">
                <a:solidFill>
                  <a:srgbClr val="FFFFFF"/>
                </a:solidFill>
                <a:latin typeface="Consolas"/>
              </a:rPr>
              <a:t>primeiro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06540" y="1728216"/>
            <a:ext cx="0" cy="530352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47987" y="1325880"/>
            <a:ext cx="1005840" cy="384048"/>
          </a:xfrm>
          <a:prstGeom prst="roundRect">
            <a:avLst>
              <a:gd name="adj" fmla="val 20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buNone/>
            </a:pPr>
            <a:r>
              <a:rPr sz="1128" b="1">
                <a:solidFill>
                  <a:srgbClr val="FFFFFF"/>
                </a:solidFill>
                <a:latin typeface="Consolas"/>
              </a:rPr>
              <a:t>ultimo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0907" y="1728216"/>
            <a:ext cx="0" cy="530352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72200" y="293522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28" b="0">
                <a:solidFill>
                  <a:srgbClr val="222320"/>
                </a:solidFill>
                <a:latin typeface="Consolas"/>
              </a:rPr>
              <a:t>tamanho</a:t>
            </a:r>
            <a:r>
              <a:rPr sz="1200" b="0">
                <a:solidFill>
                  <a:srgbClr val="222320"/>
                </a:solidFill>
                <a:latin typeface="Lato"/>
              </a:rPr>
              <a:t> =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30098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A lista com dois Pokémon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886200"/>
            <a:ext cx="5084064" cy="1801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 Pokémon fica </a:t>
            </a:r>
            <a:r>
              <a:rPr sz="1400" b="1">
                <a:solidFill>
                  <a:srgbClr val="222320"/>
                </a:solidFill>
                <a:latin typeface="Lato"/>
              </a:rPr>
              <a:t>por valor</a:t>
            </a:r>
            <a:r>
              <a:rPr sz="1400" b="0">
                <a:solidFill>
                  <a:srgbClr val="222320"/>
                </a:solidFill>
                <a:latin typeface="Lato"/>
              </a:rPr>
              <a:t> na célula: cada lista tem a sua cópia.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A </a:t>
            </a:r>
            <a:r>
              <a:rPr sz="1400" b="1">
                <a:solidFill>
                  <a:srgbClr val="222320"/>
                </a:solidFill>
                <a:latin typeface="Lato"/>
              </a:rPr>
              <a:t>célula cabeça</a:t>
            </a:r>
            <a:r>
              <a:rPr sz="1400" b="0">
                <a:solidFill>
                  <a:srgbClr val="222320"/>
                </a:solidFill>
                <a:latin typeface="Lato"/>
              </a:rPr>
              <a:t> não guarda Pokémon: dá um antecessor ao primeiro, e a lista está vazia quando </a:t>
            </a:r>
            <a:r>
              <a:rPr sz="1316" b="0">
                <a:solidFill>
                  <a:srgbClr val="222320"/>
                </a:solidFill>
                <a:latin typeface="Consolas"/>
              </a:rPr>
              <a:t>primeiro == ultimo</a:t>
            </a:r>
            <a:r>
              <a:rPr sz="14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Operações: inicializar, inserir, remover por Id, remover o primeiro, buscar, imprimir e liberar.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PokeLista: inserção no fim</a:t>
            </a:r>
          </a:p>
        </p:txBody>
      </p:sp>
      <p:pic>
        <p:nvPicPr>
          <p:cNvPr id="3" name="Picture 2" descr="lista_inser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892040" cy="369445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4965466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05 – Inserção, em src/pokelista.c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874519"/>
            <a:ext cx="868680" cy="512064"/>
          </a:xfrm>
          <a:prstGeom prst="rect">
            <a:avLst/>
          </a:prstGeom>
          <a:solidFill>
            <a:srgbClr val="F8EFC8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cabeça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59" y="1874519"/>
            <a:ext cx="274320" cy="512064"/>
          </a:xfrm>
          <a:prstGeom prst="rect">
            <a:avLst/>
          </a:prstGeom>
          <a:solidFill>
            <a:srgbClr val="F3F3F3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9771" y="2089404"/>
            <a:ext cx="82296" cy="8229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27264" y="1874519"/>
            <a:ext cx="868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Axew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695944" y="1874519"/>
            <a:ext cx="274320" cy="512064"/>
          </a:xfrm>
          <a:prstGeom prst="rect">
            <a:avLst/>
          </a:prstGeom>
          <a:solidFill>
            <a:srgbClr val="F3F3F3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91956" y="2089404"/>
            <a:ext cx="82296" cy="8229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99448" y="1874519"/>
            <a:ext cx="868680" cy="512064"/>
          </a:xfrm>
          <a:prstGeom prst="rect">
            <a:avLst/>
          </a:prstGeom>
          <a:solidFill>
            <a:srgbClr val="F8EFC8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Frogadier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8128" y="1874519"/>
            <a:ext cx="274320" cy="512064"/>
          </a:xfrm>
          <a:prstGeom prst="rect">
            <a:avLst/>
          </a:prstGeom>
          <a:solidFill>
            <a:srgbClr val="F3F3F3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64140" y="2089404"/>
            <a:ext cx="82296" cy="82296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360919" y="2130552"/>
            <a:ext cx="448057" cy="0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33104" y="2130552"/>
            <a:ext cx="448056" cy="0"/>
          </a:xfrm>
          <a:prstGeom prst="line">
            <a:avLst/>
          </a:prstGeom>
          <a:ln w="28575">
            <a:solidFill>
              <a:srgbClr val="D1A7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72984" y="109728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080" b="0">
                <a:solidFill>
                  <a:srgbClr val="6E6C66"/>
                </a:solidFill>
                <a:latin typeface="Consolas"/>
              </a:rPr>
              <a:t>ultimo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5168" y="109728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080" b="1">
                <a:solidFill>
                  <a:srgbClr val="FFFFFF"/>
                </a:solidFill>
                <a:latin typeface="Consolas"/>
              </a:rPr>
              <a:t>ultimo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61604" y="1481328"/>
            <a:ext cx="0" cy="365760"/>
          </a:xfrm>
          <a:prstGeom prst="line">
            <a:avLst/>
          </a:prstGeom>
          <a:ln w="15875">
            <a:solidFill>
              <a:srgbClr val="6E6C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3788" y="1481328"/>
            <a:ext cx="0" cy="365760"/>
          </a:xfrm>
          <a:prstGeom prst="line">
            <a:avLst/>
          </a:prstGeom>
          <a:ln w="19050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55080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antes (cinza) e depois de inserir o Frogadier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71800"/>
            <a:ext cx="4901184" cy="2715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Aloca a célula nova; se o </a:t>
            </a:r>
            <a:r>
              <a:rPr sz="1316" b="0">
                <a:solidFill>
                  <a:srgbClr val="222320"/>
                </a:solidFill>
                <a:latin typeface="Consolas"/>
              </a:rPr>
              <a:t>malloc</a:t>
            </a:r>
            <a:r>
              <a:rPr sz="1400" b="0">
                <a:solidFill>
                  <a:srgbClr val="222320"/>
                </a:solidFill>
                <a:latin typeface="Lato"/>
              </a:rPr>
              <a:t> falhar, devolve 0 e a lista fica como estava.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Copia a struct inteira (</a:t>
            </a:r>
            <a:r>
              <a:rPr sz="1316" b="0">
                <a:solidFill>
                  <a:srgbClr val="222320"/>
                </a:solidFill>
                <a:latin typeface="Consolas"/>
              </a:rPr>
              <a:t>nova-&gt;pokemon = *p</a:t>
            </a:r>
            <a:r>
              <a:rPr sz="1400" b="0">
                <a:solidFill>
                  <a:srgbClr val="222320"/>
                </a:solidFill>
                <a:latin typeface="Lato"/>
              </a:rPr>
              <a:t>): a lista fica dona da sua cópia.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Liga a nova depois de </a:t>
            </a:r>
            <a:r>
              <a:rPr sz="1316" b="0">
                <a:solidFill>
                  <a:srgbClr val="222320"/>
                </a:solidFill>
                <a:latin typeface="Consolas"/>
              </a:rPr>
              <a:t>ultimo</a:t>
            </a:r>
            <a:r>
              <a:rPr sz="1400" b="0">
                <a:solidFill>
                  <a:srgbClr val="222320"/>
                </a:solidFill>
                <a:latin typeface="Lato"/>
              </a:rPr>
              <a:t> e move </a:t>
            </a:r>
            <a:r>
              <a:rPr sz="1316" b="0">
                <a:solidFill>
                  <a:srgbClr val="222320"/>
                </a:solidFill>
                <a:latin typeface="Consolas"/>
              </a:rPr>
              <a:t>ultimo</a:t>
            </a:r>
            <a:r>
              <a:rPr sz="1400" b="0">
                <a:solidFill>
                  <a:srgbClr val="222320"/>
                </a:solidFill>
                <a:latin typeface="Lato"/>
              </a:rPr>
              <a:t> para ela (destaque): </a:t>
            </a:r>
            <a:r>
              <a:rPr sz="1400" b="1">
                <a:solidFill>
                  <a:srgbClr val="222320"/>
                </a:solidFill>
                <a:latin typeface="Lato"/>
              </a:rPr>
              <a:t>O(1)</a:t>
            </a:r>
            <a:r>
              <a:rPr sz="1400" b="0">
                <a:solidFill>
                  <a:srgbClr val="222320"/>
                </a:solidFill>
                <a:latin typeface="Lato"/>
              </a:rPr>
              <a:t>, sem percorrer a lista.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Inserir no fim mantém a ordem do arquivo nos fugitivos e a ordem de captura no treinador.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PokeLista: remoção por Id</a:t>
            </a:r>
          </a:p>
        </p:txBody>
      </p:sp>
      <p:pic>
        <p:nvPicPr>
          <p:cNvPr id="3" name="Picture 2" descr="lista_rem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481356" cy="41605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87366" y="543153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06 – Remoção por Id, em src/pokelista.c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234440"/>
            <a:ext cx="549554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50" b="0">
                <a:solidFill>
                  <a:srgbClr val="222320"/>
                </a:solidFill>
                <a:latin typeface="Lato"/>
              </a:rPr>
              <a:t>Antes disso, um laço anda com </a:t>
            </a:r>
            <a:r>
              <a:rPr sz="1363" b="0">
                <a:solidFill>
                  <a:srgbClr val="222320"/>
                </a:solidFill>
                <a:latin typeface="Consolas"/>
              </a:rPr>
              <a:t>anterior</a:t>
            </a:r>
            <a:r>
              <a:rPr sz="1450" b="0">
                <a:solidFill>
                  <a:srgbClr val="222320"/>
                </a:solidFill>
                <a:latin typeface="Lato"/>
              </a:rPr>
              <a:t>, a célula </a:t>
            </a:r>
            <a:r>
              <a:rPr sz="1450" b="1">
                <a:solidFill>
                  <a:srgbClr val="222320"/>
                </a:solidFill>
                <a:latin typeface="Lato"/>
              </a:rPr>
              <a:t>antes</a:t>
            </a:r>
            <a:r>
              <a:rPr sz="1450" b="0">
                <a:solidFill>
                  <a:srgbClr val="222320"/>
                </a:solidFill>
                <a:latin typeface="Lato"/>
              </a:rPr>
              <a:t> do alvo: numa lista simples não dá para voltar, e é ela quem precisa ser religada.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450" b="0">
                <a:solidFill>
                  <a:srgbClr val="222320"/>
                </a:solidFill>
                <a:latin typeface="Lato"/>
              </a:rPr>
              <a:t>O Pokémon é copiado para fora </a:t>
            </a:r>
            <a:r>
              <a:rPr sz="1450" b="1">
                <a:solidFill>
                  <a:srgbClr val="222320"/>
                </a:solidFill>
                <a:latin typeface="Lato"/>
              </a:rPr>
              <a:t>antes do</a:t>
            </a:r>
            <a:r>
              <a:rPr sz="1450" b="0">
                <a:solidFill>
                  <a:srgbClr val="222320"/>
                </a:solidFill>
                <a:latin typeface="Lato"/>
              </a:rPr>
              <a:t> </a:t>
            </a:r>
            <a:r>
              <a:rPr sz="1363" b="0">
                <a:solidFill>
                  <a:srgbClr val="222320"/>
                </a:solidFill>
                <a:latin typeface="Consolas"/>
              </a:rPr>
              <a:t>free</a:t>
            </a:r>
            <a:r>
              <a:rPr sz="145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450" b="0">
                <a:solidFill>
                  <a:srgbClr val="222320"/>
                </a:solidFill>
                <a:latin typeface="Lato"/>
              </a:rPr>
              <a:t>Se o removido era o último, </a:t>
            </a:r>
            <a:r>
              <a:rPr sz="1363" b="0">
                <a:solidFill>
                  <a:srgbClr val="222320"/>
                </a:solidFill>
                <a:latin typeface="Consolas"/>
              </a:rPr>
              <a:t>ultimo</a:t>
            </a:r>
            <a:r>
              <a:rPr sz="1450" b="0">
                <a:solidFill>
                  <a:srgbClr val="222320"/>
                </a:solidFill>
                <a:latin typeface="Lato"/>
              </a:rPr>
              <a:t> volta para o anterior (destaque). Sem isso, ele apontaria para memória liberada e a próxima inserção escreveria nela.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450" b="0">
                <a:solidFill>
                  <a:srgbClr val="222320"/>
                </a:solidFill>
                <a:latin typeface="Lato"/>
              </a:rPr>
              <a:t>Remover o primeiro reaproveita esta função com o Id do primeiro.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59" y="480060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anterior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4800600"/>
            <a:ext cx="1188720" cy="457200"/>
          </a:xfrm>
          <a:prstGeom prst="rect">
            <a:avLst/>
          </a:prstGeom>
          <a:solidFill>
            <a:srgbClr val="F3F3F3"/>
          </a:solidFill>
          <a:ln w="12700">
            <a:solidFill>
              <a:srgbClr val="D6D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alvo</a:t>
            </a:r>
          </a:p>
        </p:txBody>
      </p:sp>
      <p:sp>
        <p:nvSpPr>
          <p:cNvPr id="8" name="Rectangle 7"/>
          <p:cNvSpPr/>
          <p:nvPr/>
        </p:nvSpPr>
        <p:spPr>
          <a:xfrm>
            <a:off x="9464040" y="480060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seguinte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79408" y="5029200"/>
            <a:ext cx="466344" cy="0"/>
          </a:xfrm>
          <a:prstGeom prst="line">
            <a:avLst/>
          </a:prstGeom>
          <a:ln w="15875">
            <a:solidFill>
              <a:srgbClr val="6E6C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87767" y="5029200"/>
            <a:ext cx="466345" cy="0"/>
          </a:xfrm>
          <a:prstGeom prst="line">
            <a:avLst/>
          </a:prstGeom>
          <a:ln w="15875">
            <a:solidFill>
              <a:srgbClr val="6E6C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675120" y="4526280"/>
            <a:ext cx="0" cy="256032"/>
          </a:xfrm>
          <a:prstGeom prst="line">
            <a:avLst/>
          </a:prstGeom>
          <a:ln w="28575">
            <a:solidFill>
              <a:srgbClr val="D1A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4526280"/>
            <a:ext cx="3383280" cy="0"/>
          </a:xfrm>
          <a:prstGeom prst="line">
            <a:avLst/>
          </a:prstGeom>
          <a:ln w="28575">
            <a:solidFill>
              <a:srgbClr val="D1A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4526280"/>
            <a:ext cx="0" cy="246888"/>
          </a:xfrm>
          <a:prstGeom prst="line">
            <a:avLst/>
          </a:prstGeom>
          <a:ln w="28575">
            <a:solidFill>
              <a:srgbClr val="D1A7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23760" y="42336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034" b="0">
                <a:solidFill>
                  <a:srgbClr val="222320"/>
                </a:solidFill>
                <a:latin typeface="Consolas"/>
              </a:rPr>
              <a:t>anterior-&gt;prox = alvo-&gt;prox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3035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depois: </a:t>
            </a:r>
            <a:r>
              <a:rPr sz="1034" b="0">
                <a:solidFill>
                  <a:srgbClr val="6E6C66"/>
                </a:solidFill>
                <a:latin typeface="Consolas"/>
              </a:rPr>
              <a:t>free(alvo)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TAD Treinador</a:t>
            </a:r>
          </a:p>
        </p:txBody>
      </p:sp>
      <p:pic>
        <p:nvPicPr>
          <p:cNvPr id="3" name="Picture 2" descr="treinador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846320" cy="1982585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3253601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07 – A struct, em include/treinador.h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628505"/>
            <a:ext cx="5120640" cy="2059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Começa em </a:t>
            </a:r>
            <a:r>
              <a:rPr sz="1400" b="1">
                <a:solidFill>
                  <a:srgbClr val="222320"/>
                </a:solidFill>
                <a:latin typeface="Lato"/>
              </a:rPr>
              <a:t>(0,0)</a:t>
            </a:r>
            <a:r>
              <a:rPr sz="1400" b="0">
                <a:solidFill>
                  <a:srgbClr val="222320"/>
                </a:solidFill>
                <a:latin typeface="Lato"/>
              </a:rPr>
              <a:t> com a PokeLista vazia. O identificador é a ordem do arquivo (1 e 2) e decide o empate.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Capturar gasta uma Pokébola </a:t>
            </a:r>
            <a:r>
              <a:rPr sz="1400" b="1">
                <a:solidFill>
                  <a:srgbClr val="222320"/>
                </a:solidFill>
                <a:latin typeface="Lato"/>
              </a:rPr>
              <a:t>só se a inserção deu certo</a:t>
            </a:r>
            <a:r>
              <a:rPr sz="1400" b="0">
                <a:solidFill>
                  <a:srgbClr val="222320"/>
                </a:solidFill>
                <a:latin typeface="Lato"/>
              </a:rPr>
              <a:t>; sem Pokébola, devolve 0.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Retirar tira sempre o primeiro da lista: a entrega sai na ordem de captura.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Movimentar só muda a posição; as mensagens ficam na missão.</a:t>
            </a:r>
          </a:p>
        </p:txBody>
      </p:sp>
      <p:pic>
        <p:nvPicPr>
          <p:cNvPr id="6" name="Picture 5" descr="treinador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95" y="1188720"/>
            <a:ext cx="4630256" cy="41605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563695" y="5431536"/>
            <a:ext cx="46302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08 – Captura e retirada, em src/treinador.c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TAD Centro de Pesquisa</a:t>
            </a:r>
          </a:p>
        </p:txBody>
      </p:sp>
      <p:pic>
        <p:nvPicPr>
          <p:cNvPr id="3" name="Picture 2" descr="pokecenter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3977639" cy="220759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452627" y="347860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09 – A struct, em include/pokecenter.h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853510"/>
            <a:ext cx="5120640" cy="183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Duas PokeLista: </a:t>
            </a:r>
            <a:r>
              <a:rPr sz="1400" b="1">
                <a:solidFill>
                  <a:srgbClr val="222320"/>
                </a:solidFill>
                <a:latin typeface="Lato"/>
              </a:rPr>
              <a:t>fugitivos</a:t>
            </a:r>
            <a:r>
              <a:rPr sz="1400" b="0">
                <a:solidFill>
                  <a:srgbClr val="222320"/>
                </a:solidFill>
                <a:latin typeface="Lato"/>
              </a:rPr>
              <a:t> (ordem do arquivo) e </a:t>
            </a:r>
            <a:r>
              <a:rPr sz="1400" b="1">
                <a:solidFill>
                  <a:srgbClr val="222320"/>
                </a:solidFill>
                <a:latin typeface="Lato"/>
              </a:rPr>
              <a:t>recuperados</a:t>
            </a:r>
            <a:r>
              <a:rPr sz="1400" b="0">
                <a:solidFill>
                  <a:srgbClr val="222320"/>
                </a:solidFill>
                <a:latin typeface="Lato"/>
              </a:rPr>
              <a:t> (ordem de entrega). O Centro fica em (0,0).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Receber retira um a um os Pokémon do treinador e insere no fim dos recuperados.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A recarga só vale no Centro e sorteia </a:t>
            </a:r>
            <a:r>
              <a:rPr sz="1400" b="1">
                <a:solidFill>
                  <a:srgbClr val="222320"/>
                </a:solidFill>
                <a:latin typeface="Lato"/>
              </a:rPr>
              <a:t>de 1 a 20</a:t>
            </a:r>
            <a:r>
              <a:rPr sz="1400" b="0">
                <a:solidFill>
                  <a:srgbClr val="222320"/>
                </a:solidFill>
                <a:latin typeface="Lato"/>
              </a:rPr>
              <a:t> (destaque). O </a:t>
            </a:r>
            <a:r>
              <a:rPr sz="1316" b="0">
                <a:solidFill>
                  <a:srgbClr val="222320"/>
                </a:solidFill>
                <a:latin typeface="Consolas"/>
              </a:rPr>
              <a:t>srand</a:t>
            </a:r>
            <a:r>
              <a:rPr sz="1400" b="0">
                <a:solidFill>
                  <a:srgbClr val="222320"/>
                </a:solidFill>
                <a:latin typeface="Lato"/>
              </a:rPr>
              <a:t> roda uma vez, no </a:t>
            </a:r>
            <a:r>
              <a:rPr sz="1316" b="0">
                <a:solidFill>
                  <a:srgbClr val="222320"/>
                </a:solidFill>
                <a:latin typeface="Consolas"/>
              </a:rPr>
              <a:t>main</a:t>
            </a:r>
            <a:r>
              <a:rPr sz="1400" b="0">
                <a:solidFill>
                  <a:srgbClr val="222320"/>
                </a:solidFill>
                <a:latin typeface="Lato"/>
              </a:rPr>
              <a:t>.</a:t>
            </a:r>
          </a:p>
        </p:txBody>
      </p:sp>
      <p:pic>
        <p:nvPicPr>
          <p:cNvPr id="6" name="Picture 5" descr="centro_rec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673" y="1188720"/>
            <a:ext cx="4644301" cy="41605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556673" y="5431536"/>
            <a:ext cx="4644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10 – Recarga de Pokébolas, em src/pokecenter.c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da missão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" y="132588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1">
                <a:solidFill>
                  <a:srgbClr val="FFFFFF"/>
                </a:solidFill>
                <a:latin typeface="Lato"/>
              </a:rPr>
              <a:t>Lê o arquivo e registra os fugitivos no Centro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18688" y="1760219"/>
            <a:ext cx="361188" cy="0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25596" y="132588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Pega o próximo fugitivo, na ordem do Id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11596" y="1760219"/>
            <a:ext cx="361188" cy="0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18504" y="132588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Calcula as duas distâncias e escolhe o mais perto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04504" y="1760219"/>
            <a:ext cx="361187" cy="0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011412" y="132588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Move, captura e avisa o Centro</a:t>
            </a:r>
          </a:p>
        </p:txBody>
      </p:sp>
      <p:sp>
        <p:nvSpPr>
          <p:cNvPr id="10" name="Diamond 9"/>
          <p:cNvSpPr/>
          <p:nvPr/>
        </p:nvSpPr>
        <p:spPr>
          <a:xfrm>
            <a:off x="8759952" y="2788920"/>
            <a:ext cx="2743200" cy="11887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Acabaram os fugitivos?</a:t>
            </a:r>
          </a:p>
        </p:txBody>
      </p:sp>
      <p:sp>
        <p:nvSpPr>
          <p:cNvPr id="11" name="Diamond 10"/>
          <p:cNvSpPr/>
          <p:nvPr/>
        </p:nvSpPr>
        <p:spPr>
          <a:xfrm>
            <a:off x="4059936" y="2788920"/>
            <a:ext cx="2743200" cy="11887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2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ctr" marL="0" indent="0"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Ficou sem Pokébolas?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131552" y="2221991"/>
            <a:ext cx="0" cy="548641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821424" y="3383279"/>
            <a:ext cx="1920240" cy="0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94576" y="310896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não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1412" y="452628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8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Os dois voltam ao Centro e entregam tudo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31552" y="3995927"/>
            <a:ext cx="0" cy="502921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04704" y="405079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sim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452628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1">
                <a:solidFill>
                  <a:srgbClr val="FFFFFF"/>
                </a:solidFill>
                <a:latin typeface="Lato"/>
              </a:rPr>
              <a:t>Grava o </a:t>
            </a:r>
            <a:r>
              <a:rPr sz="1269" b="1">
                <a:solidFill>
                  <a:srgbClr val="FFFFFF"/>
                </a:solidFill>
                <a:latin typeface="Consolas"/>
              </a:rPr>
              <a:t>relatorio.txt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604504" y="4960620"/>
            <a:ext cx="361188" cy="0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" y="2926079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F8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sz="1350" b="0">
                <a:solidFill>
                  <a:srgbClr val="222320"/>
                </a:solidFill>
                <a:latin typeface="Lato"/>
              </a:rPr>
              <a:t>Volta, entrega e recarrega (1 a 20)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026664" y="3383279"/>
            <a:ext cx="1014984" cy="0"/>
          </a:xfrm>
          <a:prstGeom prst="line">
            <a:avLst/>
          </a:prstGeom>
          <a:ln w="22225">
            <a:solidFill>
              <a:srgbClr val="2223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35808" y="310896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sim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961388" y="2487168"/>
            <a:ext cx="0" cy="420623"/>
          </a:xfrm>
          <a:prstGeom prst="line">
            <a:avLst/>
          </a:prstGeom>
          <a:ln w="19050">
            <a:solidFill>
              <a:srgbClr val="6E6C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61388" y="2487168"/>
            <a:ext cx="2464308" cy="0"/>
          </a:xfrm>
          <a:prstGeom prst="line">
            <a:avLst/>
          </a:prstGeom>
          <a:ln w="19050">
            <a:solidFill>
              <a:srgbClr val="6E6C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25696" y="2221991"/>
            <a:ext cx="0" cy="265177"/>
          </a:xfrm>
          <a:prstGeom prst="line">
            <a:avLst/>
          </a:prstGeom>
          <a:ln w="19050">
            <a:solidFill>
              <a:srgbClr val="6E6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31536" y="2487168"/>
            <a:ext cx="0" cy="283464"/>
          </a:xfrm>
          <a:prstGeom prst="line">
            <a:avLst/>
          </a:prstGeom>
          <a:ln w="19050">
            <a:solidFill>
              <a:srgbClr val="6E6C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065776" y="2487168"/>
            <a:ext cx="365760" cy="0"/>
          </a:xfrm>
          <a:prstGeom prst="line">
            <a:avLst/>
          </a:prstGeom>
          <a:ln w="19050">
            <a:solidFill>
              <a:srgbClr val="6E6C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065776" y="2221991"/>
            <a:ext cx="0" cy="265177"/>
          </a:xfrm>
          <a:prstGeom prst="line">
            <a:avLst/>
          </a:prstGeom>
          <a:ln w="19050">
            <a:solidFill>
              <a:srgbClr val="6E6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04688" y="240487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1">
                <a:solidFill>
                  <a:srgbClr val="222320"/>
                </a:solidFill>
                <a:latin typeface="Lato"/>
              </a:rPr>
              <a:t>não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66344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A ordem das duas perguntas é a do enunciado: primeiro se acabou, depois se faltam Pokébolas.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Leitura da entrada</a:t>
            </a:r>
          </a:p>
        </p:txBody>
      </p:sp>
      <p:pic>
        <p:nvPicPr>
          <p:cNvPr id="3" name="Picture 2" descr="missao_l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5029200" cy="3449589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4720605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11 – Leitura dos fugitivos, em src/missao.c</a:t>
            </a:r>
          </a:p>
        </p:txBody>
      </p:sp>
      <p:pic>
        <p:nvPicPr>
          <p:cNvPr id="5" name="Picture 4" descr="arq_ent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3063240" cy="1608201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355080" y="2879216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12 – O arquivo testes/teste1.txt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3254121"/>
            <a:ext cx="4901184" cy="2433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Antes vêm os dois treinadores (nome e Pokébolas) e a quantidade de Pokémon.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Cada Pokémon é lido com um único </a:t>
            </a:r>
            <a:r>
              <a:rPr sz="1316" b="0">
                <a:solidFill>
                  <a:srgbClr val="222320"/>
                </a:solidFill>
                <a:latin typeface="Consolas"/>
              </a:rPr>
              <a:t>fscanf</a:t>
            </a:r>
            <a:r>
              <a:rPr sz="1400" b="0">
                <a:solidFill>
                  <a:srgbClr val="222320"/>
                </a:solidFill>
                <a:latin typeface="Lato"/>
              </a:rPr>
              <a:t> e ganha </a:t>
            </a:r>
            <a:r>
              <a:rPr sz="1400" b="1">
                <a:solidFill>
                  <a:srgbClr val="222320"/>
                </a:solidFill>
                <a:latin typeface="Lato"/>
              </a:rPr>
              <a:t>Id = i + 1</a:t>
            </a:r>
            <a:r>
              <a:rPr sz="14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As variáveis da leitura começam zeradas: se faltar uma linha, nada fica com lixo de memória.</a:t>
            </a:r>
          </a:p>
          <a:p>
            <a:pPr algn="l" marL="237744" indent="-237744">
              <a:lnSpc>
                <a:spcPct val="100000"/>
              </a:lnSpc>
              <a:spcBef>
                <a:spcPts val="7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 </a:t>
            </a:r>
            <a:r>
              <a:rPr sz="1316" b="0">
                <a:solidFill>
                  <a:srgbClr val="222320"/>
                </a:solidFill>
                <a:latin typeface="Consolas"/>
              </a:rPr>
              <a:t>%s</a:t>
            </a:r>
            <a:r>
              <a:rPr sz="1400" b="0">
                <a:solidFill>
                  <a:srgbClr val="222320"/>
                </a:solidFill>
                <a:latin typeface="Lato"/>
              </a:rPr>
              <a:t> para no espaço em branco, então o </a:t>
            </a:r>
            <a:r>
              <a:rPr sz="1316" b="0">
                <a:solidFill>
                  <a:srgbClr val="222320"/>
                </a:solidFill>
                <a:latin typeface="Consolas"/>
              </a:rPr>
              <a:t>\r</a:t>
            </a:r>
            <a:r>
              <a:rPr sz="1400" b="0">
                <a:solidFill>
                  <a:srgbClr val="222320"/>
                </a:solidFill>
                <a:latin typeface="Lato"/>
              </a:rPr>
              <a:t> do Windows (CRLF) nunca entra no nome.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escolha do treinador</a:t>
            </a:r>
          </a:p>
        </p:txBody>
      </p:sp>
      <p:pic>
        <p:nvPicPr>
          <p:cNvPr id="3" name="Picture 2" descr="missao_dis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170150" cy="41605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3203" y="5431536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13 – Distância e escolha, em src/missao.c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234440"/>
            <a:ext cx="576986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Comparamos o </a:t>
            </a:r>
            <a:r>
              <a:rPr sz="1500" b="1">
                <a:solidFill>
                  <a:srgbClr val="222320"/>
                </a:solidFill>
                <a:latin typeface="Lato"/>
              </a:rPr>
              <a:t>quadrado</a:t>
            </a:r>
            <a:r>
              <a:rPr sz="1500" b="0">
                <a:solidFill>
                  <a:srgbClr val="222320"/>
                </a:solidFill>
                <a:latin typeface="Lato"/>
              </a:rPr>
              <a:t> da distância, sem tirar a raiz: a raiz é crescente, então a ordem não muda.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Em mapas de até uns 2000 × 2000, o quadrado sai exato no </a:t>
            </a:r>
            <a:r>
              <a:rPr sz="1410" b="0">
                <a:solidFill>
                  <a:srgbClr val="222320"/>
                </a:solidFill>
                <a:latin typeface="Consolas"/>
              </a:rPr>
              <a:t>float</a:t>
            </a:r>
            <a:r>
              <a:rPr sz="1500" b="0">
                <a:solidFill>
                  <a:srgbClr val="222320"/>
                </a:solidFill>
                <a:latin typeface="Lato"/>
              </a:rPr>
              <a:t>, então o empate é detectado sem erro de arredondamento.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Empate: vai o treinador de </a:t>
            </a:r>
            <a:r>
              <a:rPr sz="1500" b="1">
                <a:solidFill>
                  <a:srgbClr val="222320"/>
                </a:solidFill>
                <a:latin typeface="Lato"/>
              </a:rPr>
              <a:t>menor identificador</a:t>
            </a:r>
            <a:r>
              <a:rPr sz="15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A raiz só aparece na impressão, com </a:t>
            </a:r>
            <a:r>
              <a:rPr sz="1410" b="0">
                <a:solidFill>
                  <a:srgbClr val="222320"/>
                </a:solidFill>
                <a:latin typeface="Consolas"/>
              </a:rPr>
              <a:t>%.2f</a:t>
            </a:r>
            <a:r>
              <a:rPr sz="1500" b="0">
                <a:solidFill>
                  <a:srgbClr val="222320"/>
                </a:solidFill>
                <a:latin typeface="Lato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3429000"/>
            <a:ext cx="5769864" cy="1143000"/>
          </a:xfrm>
          <a:prstGeom prst="roundRect">
            <a:avLst>
              <a:gd name="adj" fmla="val 6000"/>
            </a:avLst>
          </a:prstGeom>
          <a:solidFill>
            <a:srgbClr val="F8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3584448"/>
            <a:ext cx="53126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450" b="1">
                <a:solidFill>
                  <a:srgbClr val="222320"/>
                </a:solidFill>
                <a:latin typeface="Lato"/>
              </a:rPr>
              <a:t>Exemplo do enunciado</a:t>
            </a:r>
          </a:p>
          <a:p>
            <a:pPr algn="l"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sz="1450" b="0">
                <a:solidFill>
                  <a:srgbClr val="222320"/>
                </a:solidFill>
                <a:latin typeface="Lato"/>
              </a:rPr>
              <a:t>Axew em (7,7), os dois em (0,0): Rosa </a:t>
            </a:r>
            <a:r>
              <a:rPr sz="1450" b="1">
                <a:solidFill>
                  <a:srgbClr val="222320"/>
                </a:solidFill>
                <a:latin typeface="Lato"/>
              </a:rPr>
              <a:t>9.90</a:t>
            </a:r>
            <a:r>
              <a:rPr sz="1450" b="0">
                <a:solidFill>
                  <a:srgbClr val="222320"/>
                </a:solidFill>
                <a:latin typeface="Lato"/>
              </a:rPr>
              <a:t> e Nate </a:t>
            </a:r>
            <a:r>
              <a:rPr sz="1450" b="1">
                <a:solidFill>
                  <a:srgbClr val="222320"/>
                </a:solidFill>
                <a:latin typeface="Lato"/>
              </a:rPr>
              <a:t>9.90</a:t>
            </a:r>
            <a:r>
              <a:rPr sz="1450" b="0">
                <a:solidFill>
                  <a:srgbClr val="222320"/>
                </a:solidFill>
                <a:latin typeface="Lato"/>
              </a:rPr>
              <a:t>. Empate, a missão vai para a Rosa (Id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laço da missão</a:t>
            </a:r>
          </a:p>
        </p:txBody>
      </p:sp>
      <p:pic>
        <p:nvPicPr>
          <p:cNvPr id="3" name="Picture 2" descr="missao_la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336462" cy="41605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06359" y="5431536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14 – O laço, em src/missao.c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234440"/>
            <a:ext cx="5769864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550" b="0">
                <a:solidFill>
                  <a:srgbClr val="222320"/>
                </a:solidFill>
                <a:latin typeface="Lato"/>
              </a:rPr>
              <a:t>Os Ids são a ordem de leitura; a busca no Centro confirma que o Pokémon ainda está fugido.</a:t>
            </a:r>
          </a:p>
          <a:p>
            <a:pPr algn="l" marL="237744" indent="-237744">
              <a:lnSpc>
                <a:spcPct val="100000"/>
              </a:lnSpc>
              <a:spcBef>
                <a:spcPts val="1100"/>
              </a:spcBef>
              <a:buClr>
                <a:srgbClr val="222320"/>
              </a:buClr>
              <a:buFont typeface="Arial"/>
              <a:buChar char="•"/>
            </a:pPr>
            <a:r>
              <a:rPr sz="1550" b="0">
                <a:solidFill>
                  <a:srgbClr val="222320"/>
                </a:solidFill>
                <a:latin typeface="Lato"/>
              </a:rPr>
              <a:t>Depois da captura, pergunta primeiro se </a:t>
            </a:r>
            <a:r>
              <a:rPr sz="1550" b="1">
                <a:solidFill>
                  <a:srgbClr val="222320"/>
                </a:solidFill>
                <a:latin typeface="Lato"/>
              </a:rPr>
              <a:t>acabaram os fugitivos</a:t>
            </a:r>
            <a:r>
              <a:rPr sz="1550" b="0">
                <a:solidFill>
                  <a:srgbClr val="222320"/>
                </a:solidFill>
                <a:latin typeface="Lato"/>
              </a:rPr>
              <a:t>; só depois se o treinador </a:t>
            </a:r>
            <a:r>
              <a:rPr sz="1550" b="1">
                <a:solidFill>
                  <a:srgbClr val="222320"/>
                </a:solidFill>
                <a:latin typeface="Lato"/>
              </a:rPr>
              <a:t>ficou sem Pokébolas</a:t>
            </a:r>
            <a:r>
              <a:rPr sz="1550" b="0">
                <a:solidFill>
                  <a:srgbClr val="222320"/>
                </a:solidFill>
                <a:latin typeface="Lato"/>
              </a:rPr>
              <a:t> (destaque).</a:t>
            </a:r>
          </a:p>
          <a:p>
            <a:pPr algn="l" marL="237744" indent="-237744">
              <a:lnSpc>
                <a:spcPct val="100000"/>
              </a:lnSpc>
              <a:spcBef>
                <a:spcPts val="1100"/>
              </a:spcBef>
              <a:buClr>
                <a:srgbClr val="222320"/>
              </a:buClr>
              <a:buFont typeface="Arial"/>
              <a:buChar char="•"/>
            </a:pPr>
            <a:r>
              <a:rPr sz="1550" b="0">
                <a:solidFill>
                  <a:srgbClr val="222320"/>
                </a:solidFill>
                <a:latin typeface="Lato"/>
              </a:rPr>
              <a:t>No exemplo do enunciado, o Umbreon zera as Pokébolas da Rosa e a missão termina sem recarga. Com os testes trocados, ela voltaria para buscar Pokébolas que não vai usar.</a:t>
            </a:r>
          </a:p>
          <a:p>
            <a:pPr algn="l" marL="237744" indent="-237744">
              <a:lnSpc>
                <a:spcPct val="100000"/>
              </a:lnSpc>
              <a:spcBef>
                <a:spcPts val="1100"/>
              </a:spcBef>
              <a:buClr>
                <a:srgbClr val="222320"/>
              </a:buClr>
              <a:buFont typeface="Arial"/>
              <a:buChar char="•"/>
            </a:pPr>
            <a:r>
              <a:rPr sz="1550" b="0">
                <a:solidFill>
                  <a:srgbClr val="222320"/>
                </a:solidFill>
                <a:latin typeface="Lato"/>
              </a:rPr>
              <a:t>Antes do laço, quem começa com zero Pokébolas recarrega.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retornos ao Centro</a:t>
            </a:r>
          </a:p>
        </p:txBody>
      </p:sp>
      <p:pic>
        <p:nvPicPr>
          <p:cNvPr id="3" name="Picture 2" descr="missao_reto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4439292" cy="27889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4059935"/>
            <a:ext cx="44392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15 – Sem Pokébolas, em src/missao.c</a:t>
            </a:r>
          </a:p>
        </p:txBody>
      </p:sp>
      <p:pic>
        <p:nvPicPr>
          <p:cNvPr id="5" name="Picture 4" descr="encerra_trec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460" y="1188720"/>
            <a:ext cx="4781005" cy="27889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783460" y="4059935"/>
            <a:ext cx="478100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16 – Fim da missão, em src/missao.c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480559"/>
            <a:ext cx="103235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500" b="1">
                <a:solidFill>
                  <a:srgbClr val="222320"/>
                </a:solidFill>
                <a:latin typeface="Lato"/>
              </a:rPr>
              <a:t>Sem Pokébolas:</a:t>
            </a:r>
            <a:r>
              <a:rPr sz="1500" b="0">
                <a:solidFill>
                  <a:srgbClr val="222320"/>
                </a:solidFill>
                <a:latin typeface="Lato"/>
              </a:rPr>
              <a:t> o treinador volta para (0,0), entrega o que capturou e pede um novo carregamento.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1">
                <a:solidFill>
                  <a:srgbClr val="222320"/>
                </a:solidFill>
                <a:latin typeface="Lato"/>
              </a:rPr>
              <a:t>Último resgate:</a:t>
            </a:r>
            <a:r>
              <a:rPr sz="1500" b="0">
                <a:solidFill>
                  <a:srgbClr val="222320"/>
                </a:solidFill>
                <a:latin typeface="Lato"/>
              </a:rPr>
              <a:t> os dois voltam, e a Rosa (Id 1) entrega antes do Nate. É essa ordem que faz o relatório sair igual ao do exemplo.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Entregar é retirar o primeiro da lista do treinador e inserir no fim dos recuperados: a ordem de captura se mantém.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Execução: compilação e entrada</a:t>
            </a:r>
          </a:p>
        </p:txBody>
      </p:sp>
      <p:pic>
        <p:nvPicPr>
          <p:cNvPr id="3" name="Picture 2" descr="term_mak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8138160" cy="1973392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32688" y="3244408"/>
            <a:ext cx="8138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17 – Compilação com o Makefile, no terminal do VS Code</a:t>
            </a:r>
          </a:p>
        </p:txBody>
      </p:sp>
      <p:pic>
        <p:nvPicPr>
          <p:cNvPr id="5" name="Picture 4" descr="arq_ent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19312"/>
            <a:ext cx="3108960" cy="1632204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932687" y="53338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18 – O arquivo de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3637600"/>
            <a:ext cx="6803136" cy="20682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316" b="0">
                <a:solidFill>
                  <a:srgbClr val="222320"/>
                </a:solidFill>
                <a:latin typeface="Consolas"/>
              </a:rPr>
              <a:t>mingw32-make</a:t>
            </a:r>
            <a:r>
              <a:rPr sz="1400" b="0">
                <a:solidFill>
                  <a:srgbClr val="222320"/>
                </a:solidFill>
                <a:latin typeface="Lato"/>
              </a:rPr>
              <a:t> compila os seis arquivos com </a:t>
            </a:r>
            <a:r>
              <a:rPr sz="1316" b="0">
                <a:solidFill>
                  <a:srgbClr val="222320"/>
                </a:solidFill>
                <a:latin typeface="Consolas"/>
              </a:rPr>
              <a:t>-Wall -Wextra -std=c99</a:t>
            </a:r>
            <a:r>
              <a:rPr sz="1400" b="0">
                <a:solidFill>
                  <a:srgbClr val="222320"/>
                </a:solidFill>
                <a:latin typeface="Lato"/>
              </a:rPr>
              <a:t>, </a:t>
            </a:r>
            <a:r>
              <a:rPr sz="1400" b="1">
                <a:solidFill>
                  <a:srgbClr val="222320"/>
                </a:solidFill>
                <a:latin typeface="Lato"/>
              </a:rPr>
              <a:t>sem nenhum aviso</a:t>
            </a:r>
            <a:r>
              <a:rPr sz="14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 programa pede o caminho do arquivo de entrada.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Formato: os dois treinadores (nome e Pokébolas), a quantidade de Pokémon e uma linha por Pokémon: Pokédex, nome, tipo, X e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Execução: resgates e retorno</a:t>
            </a:r>
          </a:p>
        </p:txBody>
      </p:sp>
      <p:pic>
        <p:nvPicPr>
          <p:cNvPr id="3" name="Picture 2" descr="term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922" y="1188720"/>
            <a:ext cx="3981099" cy="406908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869762" y="5340096"/>
            <a:ext cx="42554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19 – O início: no empate de 9.90, vai a Rosa (Id 1)</a:t>
            </a:r>
          </a:p>
        </p:txBody>
      </p:sp>
      <p:pic>
        <p:nvPicPr>
          <p:cNvPr id="5" name="Picture 4" descr="term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22" y="1188720"/>
            <a:ext cx="3508206" cy="3029814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445222" y="4300830"/>
            <a:ext cx="39654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20 – A Rosa fica sem Pokébolas, volta e recarrega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3822" y="4721454"/>
            <a:ext cx="3508206" cy="966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Nesta execução o sorteio deu </a:t>
            </a:r>
            <a:r>
              <a:rPr sz="1400" b="1">
                <a:solidFill>
                  <a:srgbClr val="222320"/>
                </a:solidFill>
                <a:latin typeface="Lato"/>
              </a:rPr>
              <a:t>18</a:t>
            </a:r>
            <a:r>
              <a:rPr sz="1400" b="0">
                <a:solidFill>
                  <a:srgbClr val="222320"/>
                </a:solidFill>
                <a:latin typeface="Lato"/>
              </a:rPr>
              <a:t> Pokébolas.</a:t>
            </a:r>
          </a:p>
          <a:p>
            <a:pPr algn="l" marL="237744" indent="-237744">
              <a:lnSpc>
                <a:spcPct val="100000"/>
              </a:lnSpc>
              <a:spcBef>
                <a:spcPts val="6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A distância </a:t>
            </a:r>
            <a:r>
              <a:rPr sz="1400" b="1">
                <a:solidFill>
                  <a:srgbClr val="222320"/>
                </a:solidFill>
                <a:latin typeface="Lato"/>
              </a:rPr>
              <a:t>1.41</a:t>
            </a:r>
            <a:r>
              <a:rPr sz="1400" b="0">
                <a:solidFill>
                  <a:srgbClr val="222320"/>
                </a:solidFill>
                <a:latin typeface="Lato"/>
              </a:rPr>
              <a:t> até o Turtwig mostra que ela voltou para (0,0).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Execução: fim e relatório</a:t>
            </a:r>
          </a:p>
        </p:txBody>
      </p:sp>
      <p:pic>
        <p:nvPicPr>
          <p:cNvPr id="3" name="Picture 2" descr="term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188720"/>
            <a:ext cx="3274016" cy="4160520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49456" y="5431536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21 – O fim da missão</a:t>
            </a:r>
          </a:p>
        </p:txBody>
      </p:sp>
      <p:pic>
        <p:nvPicPr>
          <p:cNvPr id="5" name="Picture 4" descr="arq_rela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624" y="1188720"/>
            <a:ext cx="3017520" cy="1260892"/>
          </a:xfrm>
          <a:prstGeom prst="rect">
            <a:avLst/>
          </a:prstGeom>
          <a:ln w="9525">
            <a:solidFill>
              <a:srgbClr val="D6D6D4"/>
            </a:solidFill>
          </a:ln>
          <a:effectLst>
            <a:outerShdw blurRad="88900" dist="25400" dir="5400000" algn="t" rotWithShape="0">
              <a:srgbClr val="000000">
                <a:alpha val="1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709624" y="253190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Figura 22 – O relatorio.txt gravado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624" y="2906812"/>
            <a:ext cx="6546639" cy="2780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 Umbreon é o último: a missão termina sem passar pela recarga.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Os dois voltam e devolvem os Pokémon, a Rosa primeiro.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 relatório sai na ordem de entrega: 610 e 657 (primeira volta da Rosa), 387 e 197 (fim) e 715 (Nate), </a:t>
            </a:r>
            <a:r>
              <a:rPr sz="1400" b="1">
                <a:solidFill>
                  <a:srgbClr val="222320"/>
                </a:solidFill>
                <a:latin typeface="Lato"/>
              </a:rPr>
              <a:t>igual ao exemplo do enunciado</a:t>
            </a:r>
            <a:r>
              <a:rPr sz="1400" b="0">
                <a:solidFill>
                  <a:srgbClr val="222320"/>
                </a:solidFill>
                <a:latin typeface="Lato"/>
              </a:rPr>
              <a:t>.</a:t>
            </a:r>
          </a:p>
          <a:p>
            <a:pPr algn="l" marL="237744" indent="-237744">
              <a:lnSpc>
                <a:spcPct val="100000"/>
              </a:lnSpc>
              <a:spcBef>
                <a:spcPts val="800"/>
              </a:spcBef>
              <a:buClr>
                <a:srgbClr val="222320"/>
              </a:buClr>
              <a:buFont typeface="Arial"/>
              <a:buChar char="•"/>
            </a:pPr>
            <a:r>
              <a:rPr sz="1400" b="0">
                <a:solidFill>
                  <a:srgbClr val="222320"/>
                </a:solidFill>
                <a:latin typeface="Lato"/>
              </a:rPr>
              <a:t>O sorteio muda as Pokébolas de cada execução; o fluxo e o relatório,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" y="1207008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3200" b="1">
                <a:solidFill>
                  <a:srgbClr val="FFFFFF"/>
                </a:solidFill>
                <a:latin typeface="Lato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057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0">
                <a:solidFill>
                  <a:srgbClr val="FFFFFF"/>
                </a:solidFill>
                <a:latin typeface="Lato"/>
              </a:rPr>
              <a:t>arquivos de entrada, todos até o fim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704" y="1207008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64584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3200" b="1">
                <a:solidFill>
                  <a:srgbClr val="222320"/>
                </a:solidFill>
                <a:latin typeface="Lato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4584" y="2057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distâncias do exemplo do enunciado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0721" y="1207008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3601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3200" b="1">
                <a:solidFill>
                  <a:srgbClr val="222320"/>
                </a:solidFill>
                <a:latin typeface="Lato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601" y="2057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avisos com -Wall -Wextra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9738" y="1207008"/>
            <a:ext cx="237744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2618" y="1371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3200" b="1">
                <a:solidFill>
                  <a:srgbClr val="222320"/>
                </a:solidFill>
                <a:latin typeface="Lato"/>
              </a:rPr>
              <a:t>64 =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2618" y="2057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200" b="0">
                <a:solidFill>
                  <a:srgbClr val="6E6C66"/>
                </a:solidFill>
                <a:latin typeface="Lato"/>
              </a:rPr>
              <a:t>malloc e free no teste2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08376"/>
            <a:ext cx="1032357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0000"/>
              </a:lnSpc>
              <a:spcBef>
                <a:spcPts val="0"/>
              </a:spcBef>
              <a:buClr>
                <a:srgbClr val="222320"/>
              </a:buClr>
              <a:buFont typeface="Arial"/>
              <a:buChar char="•"/>
            </a:pPr>
            <a:r>
              <a:rPr sz="1410" b="0">
                <a:solidFill>
                  <a:srgbClr val="222320"/>
                </a:solidFill>
                <a:latin typeface="Consolas"/>
              </a:rPr>
              <a:t>teste1.txt</a:t>
            </a:r>
            <a:r>
              <a:rPr sz="1500" b="0">
                <a:solidFill>
                  <a:srgbClr val="222320"/>
                </a:solidFill>
                <a:latin typeface="Lato"/>
              </a:rPr>
              <a:t>: a saída é a do enunciado, a menos dos espaços das molduras, e o relatório sai idêntico.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410" b="0">
                <a:solidFill>
                  <a:srgbClr val="222320"/>
                </a:solidFill>
                <a:latin typeface="Consolas"/>
              </a:rPr>
              <a:t>teste2.txt</a:t>
            </a:r>
            <a:r>
              <a:rPr sz="1500" b="0">
                <a:solidFill>
                  <a:srgbClr val="222320"/>
                </a:solidFill>
                <a:latin typeface="Lato"/>
              </a:rPr>
              <a:t>: 20 resgates; os quatro Pikachus 025 são Pokémon diferentes, porque o Id é a ordem de leitura.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Casos nossos: empate na origem, zero e uma Pokébola, coordenadas negativas, arquivo em CRLF, arquivo vazio, nomes longos e 500 Pokémon. Nenhum trava.</a:t>
            </a:r>
          </a:p>
          <a:p>
            <a:pPr algn="l" marL="237744" indent="-237744">
              <a:lnSpc>
                <a:spcPct val="100000"/>
              </a:lnSpc>
              <a:spcBef>
                <a:spcPts val="900"/>
              </a:spcBef>
              <a:buClr>
                <a:srgbClr val="222320"/>
              </a:buClr>
              <a:buFont typeface="Arial"/>
              <a:buChar char="•"/>
            </a:pPr>
            <a:r>
              <a:rPr sz="1500" b="0">
                <a:solidFill>
                  <a:srgbClr val="222320"/>
                </a:solidFill>
                <a:latin typeface="Lato"/>
              </a:rPr>
              <a:t>Memória: 4 células cabeça + 3 por Pokémon, e cada </a:t>
            </a:r>
            <a:r>
              <a:rPr sz="1410" b="0">
                <a:solidFill>
                  <a:srgbClr val="222320"/>
                </a:solidFill>
                <a:latin typeface="Consolas"/>
              </a:rPr>
              <a:t>malloc</a:t>
            </a:r>
            <a:r>
              <a:rPr sz="1500" b="0">
                <a:solidFill>
                  <a:srgbClr val="222320"/>
                </a:solidFill>
                <a:latin typeface="Lato"/>
              </a:rPr>
              <a:t> tem o seu </a:t>
            </a:r>
            <a:r>
              <a:rPr sz="1410" b="0">
                <a:solidFill>
                  <a:srgbClr val="222320"/>
                </a:solidFill>
                <a:latin typeface="Consolas"/>
              </a:rPr>
              <a:t>free</a:t>
            </a:r>
            <a:r>
              <a:rPr sz="1500" b="0">
                <a:solidFill>
                  <a:srgbClr val="222320"/>
                </a:solidFill>
                <a:latin typeface="Lato"/>
              </a:rPr>
              <a:t> (500 Pokémon: 1504 e 1504).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não fechava no enunciado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" y="1207008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1408176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O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1847088"/>
            <a:ext cx="4453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400" b="0">
                <a:solidFill>
                  <a:srgbClr val="222320"/>
                </a:solidFill>
                <a:latin typeface="Lato"/>
              </a:rPr>
              <a:t>O texto pede "o ID e o Nome", mas o exemplo imprime </a:t>
            </a:r>
            <a:r>
              <a:rPr sz="1316" b="0">
                <a:solidFill>
                  <a:srgbClr val="222320"/>
                </a:solidFill>
                <a:latin typeface="Consolas"/>
              </a:rPr>
              <a:t>610 Axew</a:t>
            </a:r>
            <a:r>
              <a:rPr sz="1400" b="0">
                <a:solidFill>
                  <a:srgbClr val="222320"/>
                </a:solidFill>
                <a:latin typeface="Lato"/>
              </a:rPr>
              <a:t>: 610 é o número da Pokédex.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7008" y="2743199"/>
            <a:ext cx="445312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 marL="0" indent="0"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Decisão:</a:t>
            </a:r>
            <a:r>
              <a:rPr sz="1350" b="0">
                <a:solidFill>
                  <a:srgbClr val="222320"/>
                </a:solidFill>
                <a:latin typeface="Lato"/>
              </a:rPr>
              <a:t> Seguimos o exemplo.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207008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408176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O arquivo de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847088"/>
            <a:ext cx="4453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400" b="0">
                <a:solidFill>
                  <a:srgbClr val="222320"/>
                </a:solidFill>
                <a:latin typeface="Lato"/>
              </a:rPr>
              <a:t>No PDF o bloco está em três colunas e, copiado, junta </a:t>
            </a:r>
            <a:r>
              <a:rPr sz="1316" b="0">
                <a:solidFill>
                  <a:srgbClr val="222320"/>
                </a:solidFill>
                <a:latin typeface="Consolas"/>
              </a:rPr>
              <a:t>7 7</a:t>
            </a:r>
            <a:r>
              <a:rPr sz="1400" b="0">
                <a:solidFill>
                  <a:srgbClr val="222320"/>
                </a:solidFill>
                <a:latin typeface="Lato"/>
              </a:rPr>
              <a:t> em </a:t>
            </a:r>
            <a:r>
              <a:rPr sz="1316" b="0">
                <a:solidFill>
                  <a:srgbClr val="222320"/>
                </a:solidFill>
                <a:latin typeface="Consolas"/>
              </a:rPr>
              <a:t>77</a:t>
            </a:r>
            <a:r>
              <a:rPr sz="1400" b="0">
                <a:solidFill>
                  <a:srgbClr val="222320"/>
                </a:solidFill>
                <a:latin typeface="Lato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2743199"/>
            <a:ext cx="445312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 marL="0" indent="0"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Decisão:</a:t>
            </a:r>
            <a:r>
              <a:rPr sz="1350" b="0">
                <a:solidFill>
                  <a:srgbClr val="222320"/>
                </a:solidFill>
                <a:latin typeface="Lato"/>
              </a:rPr>
              <a:t> Conferimos com o arquivo oficial.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566159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767327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O Id do Pokémon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206240"/>
            <a:ext cx="4453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400" b="0">
                <a:solidFill>
                  <a:srgbClr val="222320"/>
                </a:solidFill>
                <a:latin typeface="Lato"/>
              </a:rPr>
              <a:t>O Id precisa ser único, mas o arquivo de entrada não traz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5102352"/>
            <a:ext cx="445312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 marL="0" indent="0"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Decisão:</a:t>
            </a:r>
            <a:r>
              <a:rPr sz="1350" b="0">
                <a:solidFill>
                  <a:srgbClr val="222320"/>
                </a:solidFill>
                <a:latin typeface="Lato"/>
              </a:rPr>
              <a:t> O Id é a ordem de leitura.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566159"/>
            <a:ext cx="5001768" cy="2084831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3767327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1">
                <a:solidFill>
                  <a:srgbClr val="222320"/>
                </a:solidFill>
                <a:latin typeface="Lato"/>
              </a:rPr>
              <a:t>O espaço no relatório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206240"/>
            <a:ext cx="4453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400" b="0">
                <a:solidFill>
                  <a:srgbClr val="222320"/>
                </a:solidFill>
                <a:latin typeface="Lato"/>
              </a:rPr>
              <a:t>No exemplo, cada linha do relatório começa com um espaço, que é recuo do documento.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8816" y="5102352"/>
            <a:ext cx="445312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 marL="0" indent="0">
              <a:buNone/>
            </a:pPr>
            <a:r>
              <a:rPr sz="1350" b="1">
                <a:solidFill>
                  <a:srgbClr val="222320"/>
                </a:solidFill>
                <a:latin typeface="Lato"/>
              </a:rPr>
              <a:t>Decisão:</a:t>
            </a:r>
            <a:r>
              <a:rPr sz="1350" b="0">
                <a:solidFill>
                  <a:srgbClr val="222320"/>
                </a:solidFill>
                <a:latin typeface="Lato"/>
              </a:rPr>
              <a:t> Gravamos sem o espaço.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" y="1325880"/>
            <a:ext cx="3227832" cy="2971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07008" y="1600200"/>
            <a:ext cx="502920" cy="502920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800" b="1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13432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Uma lista para tudo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788920"/>
            <a:ext cx="2679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A mesma PokeLista, com célula cabeça e apontador </a:t>
            </a:r>
            <a:r>
              <a:rPr sz="1410" b="0">
                <a:solidFill>
                  <a:srgbClr val="222320"/>
                </a:solidFill>
                <a:latin typeface="Consolas"/>
              </a:rPr>
              <a:t>ultimo</a:t>
            </a:r>
            <a:r>
              <a:rPr sz="1500" b="0">
                <a:solidFill>
                  <a:srgbClr val="222320"/>
                </a:solidFill>
                <a:latin typeface="Lato"/>
              </a:rPr>
              <a:t>, serve aos fugitivos, aos recuperados e aos dois treinadores.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227832" cy="2971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0" y="1600200"/>
            <a:ext cx="502920" cy="502920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800" b="1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13432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TADs separados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88920"/>
            <a:ext cx="2679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Cada TAD tem a sua struct e as suas operações, e a missão só usa essas operações: cada parte pode ser testada e explicada sozinha.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325880"/>
            <a:ext cx="3227832" cy="2971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600200"/>
            <a:ext cx="502920" cy="502920"/>
          </a:xfrm>
          <a:prstGeom prst="ellipse">
            <a:avLst/>
          </a:prstGeom>
          <a:solidFill>
            <a:srgbClr val="22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buNone/>
            </a:pPr>
            <a:r>
              <a:rPr sz="1800" b="1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313432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700" b="1">
                <a:solidFill>
                  <a:srgbClr val="222320"/>
                </a:solidFill>
                <a:latin typeface="Lato"/>
              </a:rPr>
              <a:t>Testado de verdade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788920"/>
            <a:ext cx="26791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500" b="0">
                <a:solidFill>
                  <a:srgbClr val="222320"/>
                </a:solidFill>
                <a:latin typeface="Lato"/>
              </a:rPr>
              <a:t>Os arquivos oficiais e os nossos casos confirmam o fluxo do enunciado, sem travar e sem vazar memória.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00600"/>
            <a:ext cx="10323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2600" b="1">
                <a:solidFill>
                  <a:srgbClr val="222320"/>
                </a:solidFill>
                <a:latin typeface="Lato"/>
              </a:rPr>
              <a:t>Obrigado! Perguntas?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280160"/>
            <a:ext cx="1032357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600" b="0">
                <a:solidFill>
                  <a:srgbClr val="222320"/>
                </a:solidFill>
                <a:latin typeface="Lato"/>
              </a:rPr>
              <a:t>INTERNATIONAL ORGANIZATION FOR STANDARDIZATION. </a:t>
            </a:r>
            <a:r>
              <a:rPr sz="1600" b="1">
                <a:solidFill>
                  <a:srgbClr val="222320"/>
                </a:solidFill>
                <a:latin typeface="Lato"/>
              </a:rPr>
              <a:t>ISO/IEC 9899:1999</a:t>
            </a:r>
            <a:r>
              <a:rPr sz="1600" b="0">
                <a:solidFill>
                  <a:srgbClr val="222320"/>
                </a:solidFill>
                <a:latin typeface="Lato"/>
              </a:rPr>
              <a:t>: programming languages — C. Genebra: ISO, 1999.</a:t>
            </a:r>
          </a:p>
          <a:p>
            <a:pPr algn="l"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sz="1600" b="0">
                <a:solidFill>
                  <a:srgbClr val="222320"/>
                </a:solidFill>
                <a:latin typeface="Lato"/>
              </a:rPr>
              <a:t>KERNIGHAN, B. W.; RITCHIE, D. M. </a:t>
            </a:r>
            <a:r>
              <a:rPr sz="1600" b="1">
                <a:solidFill>
                  <a:srgbClr val="222320"/>
                </a:solidFill>
                <a:latin typeface="Lato"/>
              </a:rPr>
              <a:t>C: a linguagem de programação</a:t>
            </a:r>
            <a:r>
              <a:rPr sz="1600" b="0">
                <a:solidFill>
                  <a:srgbClr val="222320"/>
                </a:solidFill>
                <a:latin typeface="Lato"/>
              </a:rPr>
              <a:t>. 2. ed. Rio de Janeiro: Campus, 1989.</a:t>
            </a:r>
          </a:p>
          <a:p>
            <a:pPr algn="l"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sz="1600" b="0">
                <a:solidFill>
                  <a:srgbClr val="222320"/>
                </a:solidFill>
                <a:latin typeface="Lato"/>
              </a:rPr>
              <a:t>SILVA, T. R. M. B. </a:t>
            </a:r>
            <a:r>
              <a:rPr sz="1600" b="1">
                <a:solidFill>
                  <a:srgbClr val="222320"/>
                </a:solidFill>
                <a:latin typeface="Lato"/>
              </a:rPr>
              <a:t>Trabalho Prático 1</a:t>
            </a:r>
            <a:r>
              <a:rPr sz="1600" b="0">
                <a:solidFill>
                  <a:srgbClr val="222320"/>
                </a:solidFill>
                <a:latin typeface="Lato"/>
              </a:rPr>
              <a:t>: Algoritmos e Estruturas de Dados 1. Florestal: Universidade Federal de Viçosa, 2026. Especificação do trabalho.</a:t>
            </a:r>
          </a:p>
          <a:p>
            <a:pPr algn="l"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sz="1600" b="0">
                <a:solidFill>
                  <a:srgbClr val="222320"/>
                </a:solidFill>
                <a:latin typeface="Lato"/>
              </a:rPr>
              <a:t>ZIVIANI, N. </a:t>
            </a:r>
            <a:r>
              <a:rPr sz="1600" b="1">
                <a:solidFill>
                  <a:srgbClr val="222320"/>
                </a:solidFill>
                <a:latin typeface="Lato"/>
              </a:rPr>
              <a:t>Projeto de algoritmos</a:t>
            </a:r>
            <a:r>
              <a:rPr sz="1600" b="0">
                <a:solidFill>
                  <a:srgbClr val="222320"/>
                </a:solidFill>
                <a:latin typeface="Lato"/>
              </a:rPr>
              <a:t>: com implementações em Pascal e C. 3. ed. São Paulo: Cengage Learning, 2011.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58521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z="1100" b="0">
                <a:solidFill>
                  <a:srgbClr val="6E6C66"/>
                </a:solidFill>
                <a:latin typeface="Lato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3">
      <a:dk1>
        <a:srgbClr val="222320"/>
      </a:dk1>
      <a:lt1>
        <a:srgbClr val="FFFFFF"/>
      </a:lt1>
      <a:dk2>
        <a:srgbClr val="222320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438</Words>
  <Application>Microsoft Office PowerPoint</Application>
  <PresentationFormat>Widescreen</PresentationFormat>
  <Paragraphs>37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Lato</vt:lpstr>
      <vt:lpstr>Arial</vt:lpstr>
      <vt:lpstr>Calibri</vt:lpstr>
      <vt:lpstr>Tema do Office</vt:lpstr>
      <vt:lpstr>TRABALHO PRATICO 01 LISTA ENCADEADA</vt:lpstr>
      <vt:lpstr>O problema</vt:lpstr>
      <vt:lpstr>Modelagem do problema</vt:lpstr>
      <vt:lpstr>Modelagem do problema</vt:lpstr>
      <vt:lpstr>Apresentação do PowerPoint</vt:lpstr>
      <vt:lpstr>Apresentação do PowerPoint</vt:lpstr>
      <vt:lpstr>Execução do código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Cliente</dc:creator>
  <cp:lastModifiedBy>Luiza Rosa Dos Santos Diogo</cp:lastModifiedBy>
  <cp:revision>1</cp:revision>
  <dcterms:created xsi:type="dcterms:W3CDTF">2023-10-02T14:55:47Z</dcterms:created>
  <dcterms:modified xsi:type="dcterms:W3CDTF">2026-09-03T16:34:03Z</dcterms:modified>
</cp:coreProperties>
</file>