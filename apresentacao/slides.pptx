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13"/>
    <p:sldId id="257" r:id="rId14"/>
    <p:sldId id="258" r:id="rId12"/>
    <p:sldId id="259" r:id="rId11"/>
    <p:sldId id="260" r:id="rId10"/>
    <p:sldId id="261" r:id="rId9"/>
    <p:sldId id="262" r:id="rId8"/>
    <p:sldId id="263" r:id="rId20"/>
    <p:sldId id="264" r:id="rId21"/>
    <p:sldId id="265" r:id="rId7"/>
    <p:sldId id="266" r:id="rId6"/>
    <p:sldId id="267" r:id="rId5"/>
  </p:sldIdLst>
  <p:sldSz cx="12192000" cy="6858000"/>
  <p:notesSz cx="6858000" cy="9144000"/>
  <p:embeddedFontLst>
    <p:embeddedFont>
      <p:font typeface="Lato" panose="020F0502020204030203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ih2WnpKCt2FTWiCSZTrxAd6f0D4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0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slide" Target="slides/slide4.xml"/><Relationship Id="rId12" Type="http://schemas.openxmlformats.org/officeDocument/2006/relationships/slide" Target="slides/slide3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za Rosa Dos Santos Diogo" userId="a21369217c07a61f" providerId="LiveId" clId="{8DA5E43E-5B16-41A1-8EB4-16020998943C}"/>
    <pc:docChg chg="modSld">
      <pc:chgData name="Luiza Rosa Dos Santos Diogo" userId="a21369217c07a61f" providerId="LiveId" clId="{8DA5E43E-5B16-41A1-8EB4-16020998943C}" dt="2026-09-03T16:33:57.029" v="37" actId="20577"/>
      <pc:docMkLst>
        <pc:docMk/>
      </pc:docMkLst>
      <pc:sldChg chg="modSp mod">
        <pc:chgData name="Luiza Rosa Dos Santos Diogo" userId="a21369217c07a61f" providerId="LiveId" clId="{8DA5E43E-5B16-41A1-8EB4-16020998943C}" dt="2026-09-03T16:33:57.029" v="37" actId="20577"/>
        <pc:sldMkLst>
          <pc:docMk/>
          <pc:sldMk cId="3668014987" sldId="273"/>
        </pc:sldMkLst>
        <pc:spChg chg="mod">
          <ac:chgData name="Luiza Rosa Dos Santos Diogo" userId="a21369217c07a61f" providerId="LiveId" clId="{8DA5E43E-5B16-41A1-8EB4-16020998943C}" dt="2026-09-03T16:33:57.029" v="37" actId="20577"/>
          <ac:spMkLst>
            <pc:docMk/>
            <pc:sldMk cId="3668014987" sldId="273"/>
            <ac:spMk id="188" creationId="{A8069EB3-1452-9751-5436-A551817726B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exto sem imagem">
  <p:cSld name="Slide de texto sem imagem">
    <p:bg>
      <p:bgPr>
        <a:solidFill>
          <a:schemeClr val="l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928688" y="1177925"/>
            <a:ext cx="10358437" cy="4960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exto com 1 imagem ">
  <p:cSld name="Slide de texto com 1 imagem 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>
            <a:spLocks noGrp="1"/>
          </p:cNvSpPr>
          <p:nvPr>
            <p:ph type="pic" idx="2"/>
          </p:nvPr>
        </p:nvSpPr>
        <p:spPr>
          <a:xfrm>
            <a:off x="0" y="0"/>
            <a:ext cx="3857625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4676931" y="365125"/>
            <a:ext cx="4949669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4676229" y="1132954"/>
            <a:ext cx="6887433" cy="4960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exto com 2 imagens">
  <p:cSld name="Slide de texto com 2 imagens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>
            <a:spLocks noGrp="1"/>
          </p:cNvSpPr>
          <p:nvPr>
            <p:ph type="pic" idx="2"/>
          </p:nvPr>
        </p:nvSpPr>
        <p:spPr>
          <a:xfrm>
            <a:off x="-1" y="3420000"/>
            <a:ext cx="3857625" cy="3420000"/>
          </a:xfrm>
          <a:prstGeom prst="rect">
            <a:avLst/>
          </a:prstGeom>
          <a:noFill/>
          <a:ln>
            <a:noFill/>
          </a:ln>
        </p:spPr>
      </p:sp>
      <p:sp>
        <p:nvSpPr>
          <p:cNvPr id="30" name="Google Shape;30;p5"/>
          <p:cNvSpPr>
            <a:spLocks noGrp="1"/>
          </p:cNvSpPr>
          <p:nvPr>
            <p:ph type="pic" idx="3"/>
          </p:nvPr>
        </p:nvSpPr>
        <p:spPr>
          <a:xfrm>
            <a:off x="-1" y="-1"/>
            <a:ext cx="3857626" cy="3420000"/>
          </a:xfrm>
          <a:prstGeom prst="rect">
            <a:avLst/>
          </a:prstGeom>
          <a:noFill/>
          <a:ln>
            <a:noFill/>
          </a:ln>
        </p:spPr>
      </p:sp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4676931" y="365125"/>
            <a:ext cx="4987769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4676229" y="1132954"/>
            <a:ext cx="6887433" cy="4960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33" name="Google Shape;33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imagens com legenda">
  <p:cSld name="Slide de imagens com legenda">
    <p:bg>
      <p:bgPr>
        <a:solidFill>
          <a:schemeClr val="lt1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>
            <a:spLocks noGrp="1"/>
          </p:cNvSpPr>
          <p:nvPr>
            <p:ph type="pic" idx="2"/>
          </p:nvPr>
        </p:nvSpPr>
        <p:spPr>
          <a:xfrm>
            <a:off x="2814912" y="3672501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8"/>
          <p:cNvSpPr>
            <a:spLocks noGrp="1"/>
          </p:cNvSpPr>
          <p:nvPr>
            <p:ph type="pic" idx="3"/>
          </p:nvPr>
        </p:nvSpPr>
        <p:spPr>
          <a:xfrm>
            <a:off x="2814912" y="1431311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8"/>
          <p:cNvSpPr>
            <a:spLocks noGrp="1"/>
          </p:cNvSpPr>
          <p:nvPr>
            <p:ph type="pic" idx="4"/>
          </p:nvPr>
        </p:nvSpPr>
        <p:spPr>
          <a:xfrm>
            <a:off x="6522281" y="3672501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8"/>
          <p:cNvSpPr>
            <a:spLocks noGrp="1"/>
          </p:cNvSpPr>
          <p:nvPr>
            <p:ph type="pic" idx="5"/>
          </p:nvPr>
        </p:nvSpPr>
        <p:spPr>
          <a:xfrm>
            <a:off x="6525150" y="1429427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3" name="Google Shape;53;p8"/>
          <p:cNvSpPr txBox="1">
            <a:spLocks noGrp="1"/>
          </p:cNvSpPr>
          <p:nvPr>
            <p:ph type="body" idx="1"/>
          </p:nvPr>
        </p:nvSpPr>
        <p:spPr>
          <a:xfrm>
            <a:off x="2817780" y="3137838"/>
            <a:ext cx="2877131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body" idx="6"/>
          </p:nvPr>
        </p:nvSpPr>
        <p:spPr>
          <a:xfrm>
            <a:off x="6522281" y="3135463"/>
            <a:ext cx="2880000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body" idx="7"/>
          </p:nvPr>
        </p:nvSpPr>
        <p:spPr>
          <a:xfrm>
            <a:off x="2814911" y="5382509"/>
            <a:ext cx="2879999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body" idx="8"/>
          </p:nvPr>
        </p:nvSpPr>
        <p:spPr>
          <a:xfrm>
            <a:off x="6522281" y="5380845"/>
            <a:ext cx="2880000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58" name="Google Shape;58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imagem com texto">
  <p:cSld name="Slide de imagem com texto">
    <p:bg>
      <p:bgPr>
        <a:solidFill>
          <a:schemeClr val="lt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>
            <a:spLocks noGrp="1"/>
          </p:cNvSpPr>
          <p:nvPr>
            <p:ph type="pic" idx="2"/>
          </p:nvPr>
        </p:nvSpPr>
        <p:spPr>
          <a:xfrm>
            <a:off x="1154971" y="1417208"/>
            <a:ext cx="2880000" cy="21600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9"/>
          <p:cNvSpPr txBox="1">
            <a:spLocks noGrp="1"/>
          </p:cNvSpPr>
          <p:nvPr>
            <p:ph type="body" idx="1"/>
          </p:nvPr>
        </p:nvSpPr>
        <p:spPr>
          <a:xfrm>
            <a:off x="1154315" y="3929463"/>
            <a:ext cx="2881312" cy="145679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>
            <a:spLocks noGrp="1"/>
          </p:cNvSpPr>
          <p:nvPr>
            <p:ph type="pic" idx="3"/>
          </p:nvPr>
        </p:nvSpPr>
        <p:spPr>
          <a:xfrm>
            <a:off x="4608464" y="1417208"/>
            <a:ext cx="2880000" cy="2160000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9"/>
          <p:cNvSpPr txBox="1">
            <a:spLocks noGrp="1"/>
          </p:cNvSpPr>
          <p:nvPr>
            <p:ph type="body" idx="4"/>
          </p:nvPr>
        </p:nvSpPr>
        <p:spPr>
          <a:xfrm>
            <a:off x="4607808" y="3918187"/>
            <a:ext cx="2881312" cy="146806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66" name="Google Shape;66;p9"/>
          <p:cNvSpPr>
            <a:spLocks noGrp="1"/>
          </p:cNvSpPr>
          <p:nvPr>
            <p:ph type="pic" idx="5"/>
          </p:nvPr>
        </p:nvSpPr>
        <p:spPr>
          <a:xfrm>
            <a:off x="8061957" y="1417208"/>
            <a:ext cx="2880000" cy="21600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 txBox="1">
            <a:spLocks noGrp="1"/>
          </p:cNvSpPr>
          <p:nvPr>
            <p:ph type="body" idx="6"/>
          </p:nvPr>
        </p:nvSpPr>
        <p:spPr>
          <a:xfrm>
            <a:off x="8061301" y="3918187"/>
            <a:ext cx="2881312" cy="146807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68" name="Google Shape;68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livre">
  <p:cSld name="Slide livre">
    <p:bg>
      <p:bgPr>
        <a:solidFill>
          <a:schemeClr val="lt1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1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8" name="Google Shape;78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imagem">
  <p:cSld name="Slide de imagem">
    <p:bg>
      <p:bgPr>
        <a:solidFill>
          <a:schemeClr val="lt1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>
            <a:spLocks noGrp="1"/>
          </p:cNvSpPr>
          <p:nvPr>
            <p:ph type="pic" idx="2"/>
          </p:nvPr>
        </p:nvSpPr>
        <p:spPr>
          <a:xfrm>
            <a:off x="693284" y="670595"/>
            <a:ext cx="8933316" cy="5024991"/>
          </a:xfrm>
          <a:prstGeom prst="rect">
            <a:avLst/>
          </a:prstGeom>
          <a:noFill/>
          <a:ln>
            <a:noFill/>
          </a:ln>
        </p:spPr>
      </p:sp>
      <p:pic>
        <p:nvPicPr>
          <p:cNvPr id="82" name="Google Shape;82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 sem imagem">
  <p:cSld name="Capa sem imagem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4716" y="5193346"/>
            <a:ext cx="1957325" cy="33970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834716" y="1069340"/>
            <a:ext cx="4864331" cy="2343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Lato"/>
              <a:buNone/>
              <a:defRPr sz="4400" b="1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body" idx="1"/>
          </p:nvPr>
        </p:nvSpPr>
        <p:spPr>
          <a:xfrm>
            <a:off x="834716" y="3679017"/>
            <a:ext cx="4864100" cy="1291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88" name="Google Shape;88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6" r:id="rId5"/>
    <p:sldLayoutId id="2147483657" r:id="rId6"/>
    <p:sldLayoutId id="2147483659" r:id="rId7"/>
    <p:sldLayoutId id="2147483660" r:id="rId8"/>
    <p:sldLayoutId id="2147483661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 PRÁTICO 01</a:t>
            </a:r>
            <a:br/>
            <a:r>
              <a:t>LISTA ENCADEADA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&lt;Aluno 1&gt; – &lt;matrícula&gt;</a:t>
            </a:r>
          </a:p>
          <a:p>
            <a:r>
              <a:t>&lt;Aluno 2&gt; – &lt;matrícula&gt;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problema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Uma explosão no laboratório da AEDS fez os Pokémon fugirem do Centro de Pesquisa.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Dois treinadores saem para resgatá-los. A cada Pokémon, vai o que estiver mais perto dele.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Cada captura gasta uma Pokébola. Sem nenhuma, o treinador volta ao Centro, entrega o que pegou e recarrega.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No fim, o Centro grava um relatório em .txt com os Pokémon recuperados.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Restrição do enunciado: toda lista tem que ser encadeada, e cada entidade tem que ser um TAD.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Modelagem do problema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Começamos pelos TADs, de baixo para cima. Cada um conhece só o de baixo:</a:t>
            </a:r>
          </a:p>
          <a:p>
            <a:pPr algn="l" marL="51435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1">
                <a:solidFill>
                  <a:srgbClr val="222320"/>
                </a:solidFill>
                <a:latin typeface="Lato"/>
              </a:rPr>
              <a:t>Pokémon  →  PokeLista  →  Treinador  →  Centro de Pesquisa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Pokémon tem Id, número da Pokédex, nome, tipo e localização. A PokeLista é a lista encadeada desses Pokémon.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Treinador tem uma PokeLista dentro dele, com o que já capturou. O Centro tem duas: os fugitivos e os recuperados.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 missão fica num módulo separado, e o main só prepara o sorteio e chama o menu. A dependência nunca volta, então não há inclusão circular.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&lt;Aluno 1&gt; ficou com &lt;...&gt; e &lt;Aluno 2&gt; com &lt;...&gt;.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lista encadeada, com célula cabeça</a:t>
            </a:r>
          </a:p>
        </p:txBody>
      </p:sp>
      <p:pic>
        <p:nvPicPr>
          <p:cNvPr id="3" name="Picture 2" descr="fig_cel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249" y="1115568"/>
            <a:ext cx="3950344" cy="1920240"/>
          </a:xfrm>
          <a:prstGeom prst="rect">
            <a:avLst/>
          </a:prstGeom>
        </p:spPr>
      </p:pic>
      <p:pic>
        <p:nvPicPr>
          <p:cNvPr id="4" name="Picture 3" descr="fig_struct_lis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9819" y="1115568"/>
            <a:ext cx="3105420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" y="3127248"/>
            <a:ext cx="48874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01 – A célula, em include/conexao.h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68796" y="3127248"/>
            <a:ext cx="48874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02 – A lista, em include/pokelista.h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511296"/>
            <a:ext cx="1032357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5000"/>
              </a:lnSpc>
              <a:spcBef>
                <a:spcPts val="0"/>
              </a:spcBef>
              <a:buFont typeface="Arial"/>
              <a:buChar char="•"/>
            </a:pPr>
            <a:r>
              <a:rPr sz="1700" b="0">
                <a:solidFill>
                  <a:srgbClr val="222320"/>
                </a:solidFill>
                <a:latin typeface="Lato"/>
              </a:rPr>
              <a:t>A célula guarda o Pokémon por valor, não um apontador. Passar um Pokémon de uma lista para outra é copiar para fora e copiar para dentro: nenhuma memória fica compartilhada entre as listas.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700" b="0">
                <a:solidFill>
                  <a:srgbClr val="222320"/>
                </a:solidFill>
                <a:latin typeface="Lato"/>
              </a:rPr>
              <a:t>O nome struct conec é obrigatório, porque o campo prox aponta para o próprio tipo — e dentro do typedef o nome Pokelista ainda não existe.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700" b="0">
                <a:solidFill>
                  <a:srgbClr val="222320"/>
                </a:solidFill>
                <a:latin typeface="Lato"/>
              </a:rPr>
              <a:t>A célula cabeça não guarda Pokémon nenhum. Ela existe para que o primeiro elemento também tenha um antecessor, e assim a remoção não precisa de caso especial. O campo ultimo faz a inserção no fim custar O(1).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remoção, e o apontador ultimo</a:t>
            </a:r>
          </a:p>
        </p:txBody>
      </p:sp>
      <p:pic>
        <p:nvPicPr>
          <p:cNvPr id="3" name="Picture 2" descr="fig_rem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115568"/>
            <a:ext cx="6355080" cy="41638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" y="5370884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03 – Remoção por Id, em src/pokelista.c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7808" y="1152144"/>
            <a:ext cx="3648456" cy="4279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8000"/>
              </a:lnSpc>
              <a:spcBef>
                <a:spcPts val="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O laço anda com um apontador para a célula anterior ao alvo. Numa lista encadeada simples não se volta: para desligar uma célula é preciso ter em mãos quem aponta para ela.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O Pokémon é copiado para fora antes do free. Depois dele a memória não é mais nossa.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Se o removido era o último, ultimo passa a apontar para o anterior (linhas destacadas).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Sem essas duas linhas, ultimo apontaria para memória já liberada e a próxima inserção escreveria nela. Às vezes funciona, às vezes o programa quebra — é o bug clássico da lista com apontador para o fim.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escolha do treinador</a:t>
            </a:r>
          </a:p>
        </p:txBody>
      </p:sp>
      <p:pic>
        <p:nvPicPr>
          <p:cNvPr id="3" name="Picture 2" descr="fig_dis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334" y="1115568"/>
            <a:ext cx="5370282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68396" y="335584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04 – O cálculo da distância, em src/missao.c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721608"/>
            <a:ext cx="10323576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5000"/>
              </a:lnSpc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A missão vai para o treinador mais próximo e, em caso de empate, para o de menor identificador.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Comparamos o quadrado da distância, sem tirar a raiz. O quadrado é um inteiro exato, então o empate é reconhecido com segurança — em ponto flutuante, dois valores que deveriam ser iguais podem diferir na última casa.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A raiz é crescente, então comparar os quadrados dá a mesma ordem. Ela aparece só na hora de imprimir, com %.2f.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A conta é feita em long long, e as coordenadas são limitadas a um milhão. Sem esse limite a soma estoura o long long, a raiz devolve nan e a missão vai para o treinador errado.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ordem dos dois testes</a:t>
            </a:r>
          </a:p>
        </p:txBody>
      </p:sp>
      <p:pic>
        <p:nvPicPr>
          <p:cNvPr id="3" name="Picture 2" descr="fig_laco_mis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115568"/>
            <a:ext cx="6355080" cy="4251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" y="5458158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05 – O laço da missão, em src/missao.c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7808" y="1152144"/>
            <a:ext cx="3648456" cy="4279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8000"/>
              </a:lnSpc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Depois de capturar, o programa pergunta primeiro se acabaram os fugitivos; só depois se o treinador ficou sem Pokébolas.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No exemplo do enunciado o último resgate é o do Umbreon, e ele zera as Pokébolas da Rosa. O exemplo mostra “Pokébolas restantes: 0” e em seguida o bloco de fim, sem nenhuma recarga.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Com os dois testes trocados, a Rosa voltaria ao Centro para receber Pokébolas que não vai usar, e sairia um bloco a mais na tela.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O laço percorre os Ids de 1 até n. A busca no Centro, no começo do corpo, é o que confirma que aquele Pokémon ainda está fugido.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Execução: a entrada e a saída</a:t>
            </a:r>
          </a:p>
        </p:txBody>
      </p:sp>
      <p:pic>
        <p:nvPicPr>
          <p:cNvPr id="3" name="Picture 2" descr="fig_ent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815" y="1115568"/>
            <a:ext cx="4265492" cy="3622898"/>
          </a:xfrm>
          <a:prstGeom prst="rect">
            <a:avLst/>
          </a:prstGeom>
        </p:spPr>
      </p:pic>
      <p:pic>
        <p:nvPicPr>
          <p:cNvPr id="4" name="Picture 3" descr="fig_sa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115568"/>
            <a:ext cx="4841748" cy="3622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" y="4848194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06 – O arquivo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4516" y="4848194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07 – Um resgate, no 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195666"/>
            <a:ext cx="10323576" cy="510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spcBef>
                <a:spcPts val="0"/>
              </a:spcBef>
              <a:buNone/>
            </a:pPr>
            <a:r>
              <a:rPr sz="1600" b="0">
                <a:solidFill>
                  <a:srgbClr val="222320"/>
                </a:solidFill>
                <a:latin typeface="Lato"/>
              </a:rPr>
              <a:t>As duas primeiras linhas trazem os treinadores, com nome e quantidade de Pokébolas. Depois vem a quantidade de Pokémon e uma linha por Pokémon: número da Pokédex, nome, tipo e coordenada.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Execução: a recarga e o relatório</a:t>
            </a:r>
          </a:p>
        </p:txBody>
      </p:sp>
      <p:pic>
        <p:nvPicPr>
          <p:cNvPr id="3" name="Picture 2" descr="fig_reto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115568"/>
            <a:ext cx="4841748" cy="2861032"/>
          </a:xfrm>
          <a:prstGeom prst="rect">
            <a:avLst/>
          </a:prstGeom>
        </p:spPr>
      </p:pic>
      <p:pic>
        <p:nvPicPr>
          <p:cNvPr id="4" name="Picture 3" descr="fig_relato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5616" y="1115568"/>
            <a:ext cx="3359546" cy="2861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" y="4086328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08 – O treinador fica sem Pokébolas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4516" y="4086328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09 – relatorio.txt, gravado no fim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433800"/>
            <a:ext cx="10323576" cy="1272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spcBef>
                <a:spcPts val="0"/>
              </a:spcBef>
              <a:buNone/>
            </a:pPr>
            <a:r>
              <a:rPr sz="1600" b="0">
                <a:solidFill>
                  <a:srgbClr val="222320"/>
                </a:solidFill>
                <a:latin typeface="Lato"/>
              </a:rPr>
              <a:t>A quantidade da recarga é sorteada entre 1 e 20. O relatório sai na ordem em que os Pokémon foram entregues, porque a lista insere no fim e a entrega retira do começo.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32 arquivos de entrada e um script que roda todos: 72 verificações, todas passando.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 saída do exemplo do enunciado é comparada com diff, caractere por caractere.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 recarga é sorteada, então o script fixa o sorteio numa cópia do projeto. O programa entregue não tem nada de teste dentro dele.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16 casos inválidos: arquivo que não existe, campo faltando, Pokébolas negativas, coordenada fora do mapa. Todos recusados com mensagem, sem travar.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Memória: com 20 Pokémon são 64 alocações e 64 liberações; com 500, 1504 e 1504. A conta é 4 células cabeça mais 3 por Pokémon.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que não fechava no enunciado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texto pede “o ID e o Nome” no relatório, mas o exemplo imprime 610 Axew — e 610 é o número da Pokédex, não o Id. Seguimos o exemplo.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bloco final da saída tem uma linha em branco a mais e um caractere invisível no lugar do recuo, diferente dos outros três blocos. Usamos o padrão dos outros.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As linhas do relatório aparecem com um espaço de recuo, que é recuo de parágrafo do documento. Gravamos sem ele.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arquivo de entrada está em três colunas: copiar e colar junta a coordenada 7 7 em 77. Conferimos a leitura contra o arquivo de teste oficial.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Conferimos as dez distâncias do exemplo, uma a uma. Todas batem com o enunciado.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Referências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ZIVIANI, N. Projeto de algoritmos: com implementações em Pascal e C. 3. ed. São Paulo: Cengage Learning, 2011.</a:t>
            </a:r>
          </a:p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KERNIGHAN, B. W.; RITCHIE, D. M. C: a linguagem de programação. 2. ed. Rio de Janeiro: Campus, 1989.</a:t>
            </a:r>
          </a:p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SILVA, T. R. M. B. Trabalho Prático 1. Notas de aula de Algoritmos e Estruturas de Dados I (CCF 211). Florestal: Universidade Federal de Viçosa, 2026.</a:t>
            </a:r>
          </a:p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ISO/IEC 9899:1999 — Programming languages — C. Genebra: ISO, 1999.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Personalizada 3">
      <a:dk1>
        <a:srgbClr val="222320"/>
      </a:dk1>
      <a:lt1>
        <a:srgbClr val="FFFFFF"/>
      </a:lt1>
      <a:dk2>
        <a:srgbClr val="222320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438</Words>
  <Application>Microsoft Office PowerPoint</Application>
  <PresentationFormat>Widescreen</PresentationFormat>
  <Paragraphs>37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Lato</vt:lpstr>
      <vt:lpstr>Arial</vt:lpstr>
      <vt:lpstr>Calibri</vt:lpstr>
      <vt:lpstr>Tema do Office</vt:lpstr>
      <vt:lpstr>TRABALHO PRATICO 01 LISTA ENCADEADA</vt:lpstr>
      <vt:lpstr>O problema</vt:lpstr>
      <vt:lpstr>Modelagem do problema</vt:lpstr>
      <vt:lpstr>Modelagem do problema</vt:lpstr>
      <vt:lpstr>Apresentação do PowerPoint</vt:lpstr>
      <vt:lpstr>Apresentação do PowerPoint</vt:lpstr>
      <vt:lpstr>Execução do código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Cliente</dc:creator>
  <cp:lastModifiedBy>Luiza Rosa Dos Santos Diogo</cp:lastModifiedBy>
  <cp:revision>1</cp:revision>
  <dcterms:created xsi:type="dcterms:W3CDTF">2023-10-02T14:55:47Z</dcterms:created>
  <dcterms:modified xsi:type="dcterms:W3CDTF">2026-09-03T16:34:03Z</dcterms:modified>
</cp:coreProperties>
</file>