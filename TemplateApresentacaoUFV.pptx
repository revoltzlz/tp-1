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66" r:id="rId3"/>
    <p:sldId id="269" r:id="rId4"/>
    <p:sldId id="270" r:id="rId5"/>
    <p:sldId id="258" r:id="rId6"/>
    <p:sldId id="271" r:id="rId7"/>
    <p:sldId id="273" r:id="rId8"/>
    <p:sldId id="272" r:id="rId9"/>
    <p:sldId id="259" r:id="rId10"/>
    <p:sldId id="260" r:id="rId11"/>
    <p:sldId id="262" r:id="rId12"/>
    <p:sldId id="263" r:id="rId13"/>
    <p:sldId id="267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h2WnpKCt2FTWiCSZTrxAd6f0D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a Rosa Dos Santos Diogo" userId="a21369217c07a61f" providerId="LiveId" clId="{8DA5E43E-5B16-41A1-8EB4-16020998943C}"/>
    <pc:docChg chg="modSld">
      <pc:chgData name="Luiza Rosa Dos Santos Diogo" userId="a21369217c07a61f" providerId="LiveId" clId="{8DA5E43E-5B16-41A1-8EB4-16020998943C}" dt="2026-09-03T16:33:57.029" v="37" actId="20577"/>
      <pc:docMkLst>
        <pc:docMk/>
      </pc:docMkLst>
      <pc:sldChg chg="modSp mod">
        <pc:chgData name="Luiza Rosa Dos Santos Diogo" userId="a21369217c07a61f" providerId="LiveId" clId="{8DA5E43E-5B16-41A1-8EB4-16020998943C}" dt="2026-09-03T16:33:57.029" v="37" actId="20577"/>
        <pc:sldMkLst>
          <pc:docMk/>
          <pc:sldMk cId="3668014987" sldId="273"/>
        </pc:sldMkLst>
        <pc:spChg chg="mod">
          <ac:chgData name="Luiza Rosa Dos Santos Diogo" userId="a21369217c07a61f" providerId="LiveId" clId="{8DA5E43E-5B16-41A1-8EB4-16020998943C}" dt="2026-09-03T16:33:57.029" v="37" actId="20577"/>
          <ac:spMkLst>
            <pc:docMk/>
            <pc:sldMk cId="3668014987" sldId="273"/>
            <ac:spMk id="188" creationId="{A8069EB3-1452-9751-5436-A551817726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809788ea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809788eaa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2d809788eaa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809788ea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d809788eaa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2d809788eaa_0_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1A9346CD-76BF-6E84-9551-BDCCF5B3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809788eaa_0_79:notes">
            <a:extLst>
              <a:ext uri="{FF2B5EF4-FFF2-40B4-BE49-F238E27FC236}">
                <a16:creationId xmlns:a16="http://schemas.microsoft.com/office/drawing/2014/main" id="{697A5EF4-7FC3-8E58-5542-E07B0FA6A2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d809788eaa_0_79:notes">
            <a:extLst>
              <a:ext uri="{FF2B5EF4-FFF2-40B4-BE49-F238E27FC236}">
                <a16:creationId xmlns:a16="http://schemas.microsoft.com/office/drawing/2014/main" id="{015E7057-043E-1917-281E-0068961A1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2d809788eaa_0_79:notes">
            <a:extLst>
              <a:ext uri="{FF2B5EF4-FFF2-40B4-BE49-F238E27FC236}">
                <a16:creationId xmlns:a16="http://schemas.microsoft.com/office/drawing/2014/main" id="{E4F242D0-8907-D3F8-51B1-26693C5A90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166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019E7BFB-BB87-E1D5-6BEA-249DA7BA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809788eaa_0_79:notes">
            <a:extLst>
              <a:ext uri="{FF2B5EF4-FFF2-40B4-BE49-F238E27FC236}">
                <a16:creationId xmlns:a16="http://schemas.microsoft.com/office/drawing/2014/main" id="{61CFB86C-C3BA-A958-97D0-B3126131A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d809788eaa_0_79:notes">
            <a:extLst>
              <a:ext uri="{FF2B5EF4-FFF2-40B4-BE49-F238E27FC236}">
                <a16:creationId xmlns:a16="http://schemas.microsoft.com/office/drawing/2014/main" id="{9E27098B-094F-95C9-D419-DA5255B382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2d809788eaa_0_79:notes">
            <a:extLst>
              <a:ext uri="{FF2B5EF4-FFF2-40B4-BE49-F238E27FC236}">
                <a16:creationId xmlns:a16="http://schemas.microsoft.com/office/drawing/2014/main" id="{BBC1195E-C254-3A88-DC3F-0183DD44D5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432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809788ea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809788eaa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2d809788eaa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C5E1D1D9-7393-0BDC-E779-3D981B7FE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809788eaa_0_13:notes">
            <a:extLst>
              <a:ext uri="{FF2B5EF4-FFF2-40B4-BE49-F238E27FC236}">
                <a16:creationId xmlns:a16="http://schemas.microsoft.com/office/drawing/2014/main" id="{2BDAC0C5-016E-B6DD-DDED-61D08B00C2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809788eaa_0_13:notes">
            <a:extLst>
              <a:ext uri="{FF2B5EF4-FFF2-40B4-BE49-F238E27FC236}">
                <a16:creationId xmlns:a16="http://schemas.microsoft.com/office/drawing/2014/main" id="{AAF90D7A-B9E3-0693-1D27-8B04B0307D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2d809788eaa_0_13:notes">
            <a:extLst>
              <a:ext uri="{FF2B5EF4-FFF2-40B4-BE49-F238E27FC236}">
                <a16:creationId xmlns:a16="http://schemas.microsoft.com/office/drawing/2014/main" id="{DE841B46-B6DC-DE66-562F-4C372F7C02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3149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EC496CFA-6160-F874-0280-26DC854F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809788eaa_0_79:notes">
            <a:extLst>
              <a:ext uri="{FF2B5EF4-FFF2-40B4-BE49-F238E27FC236}">
                <a16:creationId xmlns:a16="http://schemas.microsoft.com/office/drawing/2014/main" id="{C685667B-8403-24EE-6702-9CAAC4B172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d809788eaa_0_79:notes">
            <a:extLst>
              <a:ext uri="{FF2B5EF4-FFF2-40B4-BE49-F238E27FC236}">
                <a16:creationId xmlns:a16="http://schemas.microsoft.com/office/drawing/2014/main" id="{FAF6B49A-4672-4C24-45FA-AE695527C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2d809788eaa_0_79:notes">
            <a:extLst>
              <a:ext uri="{FF2B5EF4-FFF2-40B4-BE49-F238E27FC236}">
                <a16:creationId xmlns:a16="http://schemas.microsoft.com/office/drawing/2014/main" id="{47BFBF05-36B1-4D2A-140A-E5440C7190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3042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7C20641-9A72-176B-FA07-AE138A5B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809788eaa_0_13:notes">
            <a:extLst>
              <a:ext uri="{FF2B5EF4-FFF2-40B4-BE49-F238E27FC236}">
                <a16:creationId xmlns:a16="http://schemas.microsoft.com/office/drawing/2014/main" id="{011DC6B9-644F-366C-C08F-B8775113A7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809788eaa_0_13:notes">
            <a:extLst>
              <a:ext uri="{FF2B5EF4-FFF2-40B4-BE49-F238E27FC236}">
                <a16:creationId xmlns:a16="http://schemas.microsoft.com/office/drawing/2014/main" id="{FBFE7D75-46E2-2BE6-BE1E-C1D8D9430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2d809788eaa_0_13:notes">
            <a:extLst>
              <a:ext uri="{FF2B5EF4-FFF2-40B4-BE49-F238E27FC236}">
                <a16:creationId xmlns:a16="http://schemas.microsoft.com/office/drawing/2014/main" id="{E64D6A06-CFD9-AE72-3670-04932C02D3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4231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809788ea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809788eaa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2d809788eaa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809788ea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809788eaa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2d809788eaa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809788e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809788eaa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2d809788eaa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809788ea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d809788eaa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2d809788eaa_0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809788ea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d809788eaa_0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d809788eaa_0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exto sem imagem">
  <p:cSld name="Slide de texto sem imagem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731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928688" y="1177925"/>
            <a:ext cx="10358437" cy="496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exto com 1 imagem ">
  <p:cSld name="Slide de texto com 1 imagem 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0" y="0"/>
            <a:ext cx="385762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676931" y="365125"/>
            <a:ext cx="4949669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676229" y="1132954"/>
            <a:ext cx="6887433" cy="496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exto com 2 imagens">
  <p:cSld name="Slide de texto com 2 imagens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>
            <a:spLocks noGrp="1"/>
          </p:cNvSpPr>
          <p:nvPr>
            <p:ph type="pic" idx="2"/>
          </p:nvPr>
        </p:nvSpPr>
        <p:spPr>
          <a:xfrm>
            <a:off x="-1" y="3420000"/>
            <a:ext cx="3857625" cy="3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5"/>
          <p:cNvSpPr>
            <a:spLocks noGrp="1"/>
          </p:cNvSpPr>
          <p:nvPr>
            <p:ph type="pic" idx="3"/>
          </p:nvPr>
        </p:nvSpPr>
        <p:spPr>
          <a:xfrm>
            <a:off x="-1" y="-1"/>
            <a:ext cx="3857626" cy="3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676931" y="365125"/>
            <a:ext cx="4987769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676229" y="1132954"/>
            <a:ext cx="6887433" cy="496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imagens com legenda">
  <p:cSld name="Slide de imagens com legenda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>
            <a:spLocks noGrp="1"/>
          </p:cNvSpPr>
          <p:nvPr>
            <p:ph type="pic" idx="2"/>
          </p:nvPr>
        </p:nvSpPr>
        <p:spPr>
          <a:xfrm>
            <a:off x="2814912" y="3672501"/>
            <a:ext cx="2880000" cy="16200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8"/>
          <p:cNvSpPr>
            <a:spLocks noGrp="1"/>
          </p:cNvSpPr>
          <p:nvPr>
            <p:ph type="pic" idx="3"/>
          </p:nvPr>
        </p:nvSpPr>
        <p:spPr>
          <a:xfrm>
            <a:off x="2814912" y="1431311"/>
            <a:ext cx="2880000" cy="16200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>
            <a:spLocks noGrp="1"/>
          </p:cNvSpPr>
          <p:nvPr>
            <p:ph type="pic" idx="4"/>
          </p:nvPr>
        </p:nvSpPr>
        <p:spPr>
          <a:xfrm>
            <a:off x="6522281" y="3672501"/>
            <a:ext cx="2880000" cy="1620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"/>
          <p:cNvSpPr>
            <a:spLocks noGrp="1"/>
          </p:cNvSpPr>
          <p:nvPr>
            <p:ph type="pic" idx="5"/>
          </p:nvPr>
        </p:nvSpPr>
        <p:spPr>
          <a:xfrm>
            <a:off x="6525150" y="1429427"/>
            <a:ext cx="2880000" cy="16200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2817780" y="3137838"/>
            <a:ext cx="2877131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731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6"/>
          </p:nvPr>
        </p:nvSpPr>
        <p:spPr>
          <a:xfrm>
            <a:off x="6522281" y="3135463"/>
            <a:ext cx="2880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7"/>
          </p:nvPr>
        </p:nvSpPr>
        <p:spPr>
          <a:xfrm>
            <a:off x="2814911" y="5382509"/>
            <a:ext cx="2879999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8"/>
          </p:nvPr>
        </p:nvSpPr>
        <p:spPr>
          <a:xfrm>
            <a:off x="6522281" y="5380845"/>
            <a:ext cx="2880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imagem com texto">
  <p:cSld name="Slide de imagem com texto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>
            <a:spLocks noGrp="1"/>
          </p:cNvSpPr>
          <p:nvPr>
            <p:ph type="pic" idx="2"/>
          </p:nvPr>
        </p:nvSpPr>
        <p:spPr>
          <a:xfrm>
            <a:off x="1154971" y="1417208"/>
            <a:ext cx="288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1154315" y="3929463"/>
            <a:ext cx="2881312" cy="145679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731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>
            <a:spLocks noGrp="1"/>
          </p:cNvSpPr>
          <p:nvPr>
            <p:ph type="pic" idx="3"/>
          </p:nvPr>
        </p:nvSpPr>
        <p:spPr>
          <a:xfrm>
            <a:off x="4608464" y="1417208"/>
            <a:ext cx="288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9"/>
          <p:cNvSpPr txBox="1">
            <a:spLocks noGrp="1"/>
          </p:cNvSpPr>
          <p:nvPr>
            <p:ph type="body" idx="4"/>
          </p:nvPr>
        </p:nvSpPr>
        <p:spPr>
          <a:xfrm>
            <a:off x="4607808" y="3918187"/>
            <a:ext cx="2881312" cy="146806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>
            <a:spLocks noGrp="1"/>
          </p:cNvSpPr>
          <p:nvPr>
            <p:ph type="pic" idx="5"/>
          </p:nvPr>
        </p:nvSpPr>
        <p:spPr>
          <a:xfrm>
            <a:off x="8061957" y="1417208"/>
            <a:ext cx="288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 txBox="1">
            <a:spLocks noGrp="1"/>
          </p:cNvSpPr>
          <p:nvPr>
            <p:ph type="body" idx="6"/>
          </p:nvPr>
        </p:nvSpPr>
        <p:spPr>
          <a:xfrm>
            <a:off x="8061301" y="3918187"/>
            <a:ext cx="2881312" cy="146807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livre">
  <p:cSld name="Slide livre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731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imagem">
  <p:cSld name="Slide de imagem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>
            <a:spLocks noGrp="1"/>
          </p:cNvSpPr>
          <p:nvPr>
            <p:ph type="pic" idx="2"/>
          </p:nvPr>
        </p:nvSpPr>
        <p:spPr>
          <a:xfrm>
            <a:off x="693284" y="670595"/>
            <a:ext cx="8933316" cy="5024991"/>
          </a:xfrm>
          <a:prstGeom prst="rect">
            <a:avLst/>
          </a:prstGeom>
          <a:noFill/>
          <a:ln>
            <a:noFill/>
          </a:ln>
        </p:spPr>
      </p:sp>
      <p:pic>
        <p:nvPicPr>
          <p:cNvPr id="82" name="Google Shape;8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 sem imagem">
  <p:cSld name="Capa sem image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4716" y="5193346"/>
            <a:ext cx="1957325" cy="3397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834716" y="1069340"/>
            <a:ext cx="4864331" cy="234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ato"/>
              <a:buNone/>
              <a:defRPr sz="44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834716" y="3679017"/>
            <a:ext cx="4864100" cy="1291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9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809788eaa_0_7"/>
          <p:cNvSpPr txBox="1">
            <a:spLocks noGrp="1"/>
          </p:cNvSpPr>
          <p:nvPr>
            <p:ph type="title"/>
          </p:nvPr>
        </p:nvSpPr>
        <p:spPr>
          <a:xfrm>
            <a:off x="834716" y="1069340"/>
            <a:ext cx="4864200" cy="2343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TRABALHO PRATICO 01</a:t>
            </a:r>
            <a:br>
              <a:rPr lang="pt-BR" dirty="0"/>
            </a:br>
            <a:r>
              <a:rPr lang="pt-BR" dirty="0"/>
              <a:t>LISTA ENCADEADA</a:t>
            </a:r>
            <a:endParaRPr dirty="0"/>
          </a:p>
        </p:txBody>
      </p:sp>
      <p:sp>
        <p:nvSpPr>
          <p:cNvPr id="107" name="Google Shape;107;g2d809788eaa_0_7"/>
          <p:cNvSpPr txBox="1">
            <a:spLocks noGrp="1"/>
          </p:cNvSpPr>
          <p:nvPr>
            <p:ph type="body" idx="1"/>
          </p:nvPr>
        </p:nvSpPr>
        <p:spPr>
          <a:xfrm>
            <a:off x="834716" y="3679017"/>
            <a:ext cx="4864200" cy="129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dirty="0"/>
              <a:t>Aluno 01 – 1234</a:t>
            </a:r>
          </a:p>
          <a:p>
            <a:r>
              <a:rPr lang="pt-BR" dirty="0"/>
              <a:t>Aluno 02 - 1235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809788eaa_0_79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8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O problema</a:t>
            </a:r>
            <a:endParaRPr dirty="0"/>
          </a:p>
        </p:txBody>
      </p:sp>
      <p:sp>
        <p:nvSpPr>
          <p:cNvPr id="188" name="Google Shape;188;g2d809788eaa_0_79"/>
          <p:cNvSpPr txBox="1">
            <a:spLocks noGrp="1"/>
          </p:cNvSpPr>
          <p:nvPr>
            <p:ph type="body" idx="1"/>
          </p:nvPr>
        </p:nvSpPr>
        <p:spPr>
          <a:xfrm>
            <a:off x="928688" y="1177925"/>
            <a:ext cx="10358400" cy="496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pt-BR" sz="2400" dirty="0"/>
              <a:t>Breve descrição sobre o problema proposto no TP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pt-BR" sz="2400" dirty="0"/>
              <a:t>Exemplo: </a:t>
            </a:r>
            <a:r>
              <a:rPr lang="pt-BR" sz="2400" i="1" dirty="0"/>
              <a:t>Nesse trabalho pratico, fomos convocados a resgatar alguns Pokémon que fugiram do centro de pesquisa, utilizando de </a:t>
            </a:r>
            <a:r>
              <a:rPr lang="pt-BR" sz="2400" i="1" dirty="0" err="1"/>
              <a:t>TADs</a:t>
            </a:r>
            <a:r>
              <a:rPr lang="pt-BR" sz="2400" i="1" dirty="0"/>
              <a:t> e Listas Encadeadas na linguagem C.</a:t>
            </a:r>
            <a:endParaRPr lang="pt-BR"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F9CD7057-712C-05BA-DA9C-CFD7FC48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809788eaa_0_79">
            <a:extLst>
              <a:ext uri="{FF2B5EF4-FFF2-40B4-BE49-F238E27FC236}">
                <a16:creationId xmlns:a16="http://schemas.microsoft.com/office/drawing/2014/main" id="{FD83C86B-80FF-C720-ECD5-49FF25D3C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8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Modelagem do problema</a:t>
            </a:r>
            <a:endParaRPr dirty="0"/>
          </a:p>
        </p:txBody>
      </p:sp>
      <p:sp>
        <p:nvSpPr>
          <p:cNvPr id="188" name="Google Shape;188;g2d809788eaa_0_79">
            <a:extLst>
              <a:ext uri="{FF2B5EF4-FFF2-40B4-BE49-F238E27FC236}">
                <a16:creationId xmlns:a16="http://schemas.microsoft.com/office/drawing/2014/main" id="{E176F272-EBA6-44B8-A883-4439D371EA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8688" y="1177925"/>
            <a:ext cx="10358400" cy="496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Explique a abordagem que foi utilizada para idealizar uma solução, e criar o código. Inclua informações como a divisão de tarefas e diferentes propostas que foram pensadas e quais quer desafios que apareceram na implementação.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Exemplo: </a:t>
            </a:r>
            <a:r>
              <a:rPr lang="pt-BR" sz="2400" i="1" dirty="0"/>
              <a:t>Tendo em vista o problema, começamos o TP usando &lt;abordagem&gt;. Aluno 01 ficou responsável por realizar as tarefas &lt;XYZ&gt;, e Aluno 02 ficou responsável por &lt;ABC&gt;. A ideia inicial foi realizar de maneira &lt;X&gt;, porem isso não funcionou devido a &lt;razão&gt;.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6777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402B8A79-4AFB-CEFD-9A50-A9B91AC0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809788eaa_0_79">
            <a:extLst>
              <a:ext uri="{FF2B5EF4-FFF2-40B4-BE49-F238E27FC236}">
                <a16:creationId xmlns:a16="http://schemas.microsoft.com/office/drawing/2014/main" id="{529F233D-91A4-6A5D-0130-FABE476ED9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8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Modelagem do problema</a:t>
            </a:r>
            <a:endParaRPr dirty="0"/>
          </a:p>
        </p:txBody>
      </p:sp>
      <p:sp>
        <p:nvSpPr>
          <p:cNvPr id="188" name="Google Shape;188;g2d809788eaa_0_79">
            <a:extLst>
              <a:ext uri="{FF2B5EF4-FFF2-40B4-BE49-F238E27FC236}">
                <a16:creationId xmlns:a16="http://schemas.microsoft.com/office/drawing/2014/main" id="{E95A53AD-AF0D-8CFC-5B65-27FB4CF47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8688" y="1177925"/>
            <a:ext cx="10358400" cy="496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Explique as principais partes do código – por exemplo, algumas funções. Demonstre, também, como foram implementados os </a:t>
            </a:r>
            <a:r>
              <a:rPr lang="pt-BR" sz="2400" dirty="0" err="1"/>
              <a:t>TADs</a:t>
            </a:r>
            <a:r>
              <a:rPr lang="pt-BR" sz="2400" dirty="0"/>
              <a:t> pedidos.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Inclua </a:t>
            </a:r>
            <a:r>
              <a:rPr lang="pt-BR" sz="2400" dirty="0" err="1"/>
              <a:t>screenshots</a:t>
            </a:r>
            <a:r>
              <a:rPr lang="pt-BR" sz="2400" dirty="0"/>
              <a:t> das partes referenciadas (Dica: Caso esteja usando o VSCode, use a extensão </a:t>
            </a:r>
            <a:r>
              <a:rPr lang="pt-BR" sz="2400" dirty="0" err="1"/>
              <a:t>CodeSnap</a:t>
            </a:r>
            <a:r>
              <a:rPr lang="pt-BR" sz="2400" dirty="0"/>
              <a:t>, e use um tema claro, para facilitar a visualização na projeção)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28600" indent="0"/>
            <a:r>
              <a:rPr lang="pt-BR" sz="2400" dirty="0"/>
              <a:t>Em seguida, estão alguns exemplos de </a:t>
            </a:r>
            <a:r>
              <a:rPr lang="pt-BR" sz="2400" dirty="0" err="1"/>
              <a:t>screenshots</a:t>
            </a:r>
            <a:r>
              <a:rPr lang="pt-BR" sz="2400" dirty="0"/>
              <a:t> usando o TP de </a:t>
            </a:r>
            <a:r>
              <a:rPr lang="pt-BR" sz="2400" dirty="0" err="1"/>
              <a:t>AEDs</a:t>
            </a:r>
            <a:r>
              <a:rPr lang="pt-BR" sz="2400" dirty="0"/>
              <a:t> 1 de 2024/01, no qual foi feito um jogo de </a:t>
            </a:r>
            <a:r>
              <a:rPr lang="pt-BR" sz="2400" dirty="0" err="1"/>
              <a:t>Monopoly</a:t>
            </a:r>
            <a:r>
              <a:rPr lang="pt-BR" sz="2400" dirty="0"/>
              <a:t>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0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ço Reservado para Imagem 2">
            <a:extLst>
              <a:ext uri="{FF2B5EF4-FFF2-40B4-BE49-F238E27FC236}">
                <a16:creationId xmlns:a16="http://schemas.microsoft.com/office/drawing/2014/main" id="{2937EF16-3B45-036A-8F84-83A1C5230BE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96" b="96"/>
          <a:stretch/>
        </p:blipFill>
        <p:spPr>
          <a:prstGeom prst="rect">
            <a:avLst/>
          </a:prstGeom>
          <a:noFill/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B8AA0EC-3A72-8740-DF60-D4CF570CE23D}"/>
              </a:ext>
            </a:extLst>
          </p:cNvPr>
          <p:cNvSpPr txBox="1"/>
          <p:nvPr/>
        </p:nvSpPr>
        <p:spPr>
          <a:xfrm>
            <a:off x="3111528" y="5695586"/>
            <a:ext cx="4096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01 – Implementação do TAD Jogo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3FF8AF3C-C453-4336-A02B-431547581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D89596E-180B-EB0B-245B-3D3FA4D16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65992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1894753-083B-744E-8661-1A0DED4E3518}"/>
              </a:ext>
            </a:extLst>
          </p:cNvPr>
          <p:cNvSpPr txBox="1"/>
          <p:nvPr/>
        </p:nvSpPr>
        <p:spPr>
          <a:xfrm>
            <a:off x="3025704" y="4327799"/>
            <a:ext cx="6140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02 – Implementação da função “Verifica Propriedade”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EC29EB8-6E5E-14D7-44A0-FDC3F296D789}"/>
              </a:ext>
            </a:extLst>
          </p:cNvPr>
          <p:cNvSpPr txBox="1"/>
          <p:nvPr/>
        </p:nvSpPr>
        <p:spPr>
          <a:xfrm>
            <a:off x="0" y="4659921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A função recebe um ponteiro para o </a:t>
            </a:r>
            <a:r>
              <a:rPr lang="pt-BR" sz="1600" dirty="0" err="1"/>
              <a:t>TAD_Jogo</a:t>
            </a:r>
            <a:r>
              <a:rPr lang="pt-BR" sz="1600" dirty="0"/>
              <a:t>, e um Apontador para o Jogador Atual. Primeiro, ela cria um </a:t>
            </a:r>
            <a:r>
              <a:rPr lang="pt-BR" sz="1600" dirty="0" err="1"/>
              <a:t>ApontadorLocal</a:t>
            </a:r>
            <a:r>
              <a:rPr lang="pt-BR" sz="1600" dirty="0"/>
              <a:t>, e faz com que aponte para o Local Atual do jogador no tabuleiro usando de um loop </a:t>
            </a:r>
            <a:r>
              <a:rPr lang="pt-BR" sz="1600" dirty="0" err="1"/>
              <a:t>while</a:t>
            </a:r>
            <a:r>
              <a:rPr lang="pt-BR" sz="1600" dirty="0"/>
              <a:t>. Em seguida, usando de um </a:t>
            </a:r>
            <a:r>
              <a:rPr lang="pt-BR" sz="1600" dirty="0" err="1"/>
              <a:t>If</a:t>
            </a:r>
            <a:r>
              <a:rPr lang="pt-BR" sz="1600" dirty="0"/>
              <a:t>, primeiro verifica se não está no inicio do tabuleiro. Então, faz uso de outro If-Else para verificar se o local tem um proprietário, e se é diferente do jogador atual – e então chama a função de pagar aluguel. Caso falso, verifica se o jogador esta em um local que pertence a ele, e chama a função </a:t>
            </a:r>
            <a:r>
              <a:rPr lang="pt-BR" sz="1600" dirty="0" err="1"/>
              <a:t>Constroi_Propriedade</a:t>
            </a:r>
            <a:r>
              <a:rPr lang="pt-BR" sz="1600" dirty="0"/>
              <a:t> caso verdadeiro. Por fim, caso ambas condições sejam falsas, chama a função</a:t>
            </a:r>
          </a:p>
          <a:p>
            <a:r>
              <a:rPr lang="pt-BR" sz="1600" dirty="0"/>
              <a:t>de </a:t>
            </a:r>
            <a:r>
              <a:rPr lang="pt-BR" sz="1600" dirty="0" err="1"/>
              <a:t>Comprar_Casa</a:t>
            </a:r>
            <a:r>
              <a:rPr lang="pt-B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150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ABB78039-82E3-3095-DA03-894B1587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809788eaa_0_79">
            <a:extLst>
              <a:ext uri="{FF2B5EF4-FFF2-40B4-BE49-F238E27FC236}">
                <a16:creationId xmlns:a16="http://schemas.microsoft.com/office/drawing/2014/main" id="{E7445FC3-CD26-EA98-5A37-69BA05B357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8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Execução do código</a:t>
            </a:r>
            <a:endParaRPr dirty="0"/>
          </a:p>
        </p:txBody>
      </p:sp>
      <p:sp>
        <p:nvSpPr>
          <p:cNvPr id="188" name="Google Shape;188;g2d809788eaa_0_79">
            <a:extLst>
              <a:ext uri="{FF2B5EF4-FFF2-40B4-BE49-F238E27FC236}">
                <a16:creationId xmlns:a16="http://schemas.microsoft.com/office/drawing/2014/main" id="{A8069EB3-1452-9751-5436-A551817726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8688" y="1177925"/>
            <a:ext cx="10358400" cy="496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Por fim, inclua uma </a:t>
            </a:r>
            <a:r>
              <a:rPr lang="pt-BR" sz="2400" dirty="0" err="1"/>
              <a:t>screenshot</a:t>
            </a:r>
            <a:r>
              <a:rPr lang="pt-BR" sz="2400" dirty="0"/>
              <a:t> do seu arquivo de entrada, e da saída do TP.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Se possível, execute na hora da apresentação.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Incluir referencias (</a:t>
            </a:r>
            <a:r>
              <a:rPr lang="pt-BR" sz="2400"/>
              <a:t>Padrão ABNT)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68014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EA6679A9-E3AA-A53A-E85F-1F520BDB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809788eaa_0_13">
            <a:extLst>
              <a:ext uri="{FF2B5EF4-FFF2-40B4-BE49-F238E27FC236}">
                <a16:creationId xmlns:a16="http://schemas.microsoft.com/office/drawing/2014/main" id="{27CCE848-6348-50B5-F63C-219806ACB12D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93284" y="670595"/>
            <a:ext cx="8933400" cy="5025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8699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809788eaa_0_18"/>
          <p:cNvSpPr>
            <a:spLocks noGrp="1"/>
          </p:cNvSpPr>
          <p:nvPr>
            <p:ph type="pic" idx="2"/>
          </p:nvPr>
        </p:nvSpPr>
        <p:spPr>
          <a:xfrm>
            <a:off x="1154971" y="1417208"/>
            <a:ext cx="2880000" cy="2160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20" name="Google Shape;120;g2d809788eaa_0_18"/>
          <p:cNvSpPr txBox="1">
            <a:spLocks noGrp="1"/>
          </p:cNvSpPr>
          <p:nvPr>
            <p:ph type="body" idx="1"/>
          </p:nvPr>
        </p:nvSpPr>
        <p:spPr>
          <a:xfrm>
            <a:off x="1154315" y="3929463"/>
            <a:ext cx="2881200" cy="1456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g2d809788eaa_0_18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8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2d809788eaa_0_18"/>
          <p:cNvSpPr>
            <a:spLocks noGrp="1"/>
          </p:cNvSpPr>
          <p:nvPr>
            <p:ph type="pic" idx="3"/>
          </p:nvPr>
        </p:nvSpPr>
        <p:spPr>
          <a:xfrm>
            <a:off x="4608464" y="1417208"/>
            <a:ext cx="2880000" cy="2160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23" name="Google Shape;123;g2d809788eaa_0_18"/>
          <p:cNvSpPr txBox="1">
            <a:spLocks noGrp="1"/>
          </p:cNvSpPr>
          <p:nvPr>
            <p:ph type="body" idx="4"/>
          </p:nvPr>
        </p:nvSpPr>
        <p:spPr>
          <a:xfrm>
            <a:off x="4607808" y="3918187"/>
            <a:ext cx="2881200" cy="146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d809788eaa_0_18"/>
          <p:cNvSpPr>
            <a:spLocks noGrp="1"/>
          </p:cNvSpPr>
          <p:nvPr>
            <p:ph type="pic" idx="5"/>
          </p:nvPr>
        </p:nvSpPr>
        <p:spPr>
          <a:xfrm>
            <a:off x="8061957" y="1417208"/>
            <a:ext cx="2880000" cy="2160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25" name="Google Shape;125;g2d809788eaa_0_18"/>
          <p:cNvSpPr txBox="1">
            <a:spLocks noGrp="1"/>
          </p:cNvSpPr>
          <p:nvPr>
            <p:ph type="body" idx="6"/>
          </p:nvPr>
        </p:nvSpPr>
        <p:spPr>
          <a:xfrm>
            <a:off x="8061301" y="3918187"/>
            <a:ext cx="2881200" cy="146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809788eaa_0_29"/>
          <p:cNvSpPr>
            <a:spLocks noGrp="1"/>
          </p:cNvSpPr>
          <p:nvPr>
            <p:ph type="pic" idx="2"/>
          </p:nvPr>
        </p:nvSpPr>
        <p:spPr>
          <a:xfrm>
            <a:off x="2814912" y="3672501"/>
            <a:ext cx="2880000" cy="1620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32" name="Google Shape;132;g2d809788eaa_0_29"/>
          <p:cNvSpPr>
            <a:spLocks noGrp="1"/>
          </p:cNvSpPr>
          <p:nvPr>
            <p:ph type="pic" idx="3"/>
          </p:nvPr>
        </p:nvSpPr>
        <p:spPr>
          <a:xfrm>
            <a:off x="2814912" y="1431311"/>
            <a:ext cx="2880000" cy="1620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33" name="Google Shape;133;g2d809788eaa_0_29"/>
          <p:cNvSpPr>
            <a:spLocks noGrp="1"/>
          </p:cNvSpPr>
          <p:nvPr>
            <p:ph type="pic" idx="4"/>
          </p:nvPr>
        </p:nvSpPr>
        <p:spPr>
          <a:xfrm>
            <a:off x="6522281" y="3672501"/>
            <a:ext cx="2880000" cy="1620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34" name="Google Shape;134;g2d809788eaa_0_29"/>
          <p:cNvSpPr>
            <a:spLocks noGrp="1"/>
          </p:cNvSpPr>
          <p:nvPr>
            <p:ph type="pic" idx="5"/>
          </p:nvPr>
        </p:nvSpPr>
        <p:spPr>
          <a:xfrm>
            <a:off x="6525150" y="1429427"/>
            <a:ext cx="2880000" cy="1620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35" name="Google Shape;135;g2d809788eaa_0_29"/>
          <p:cNvSpPr txBox="1">
            <a:spLocks noGrp="1"/>
          </p:cNvSpPr>
          <p:nvPr>
            <p:ph type="body" idx="1"/>
          </p:nvPr>
        </p:nvSpPr>
        <p:spPr>
          <a:xfrm>
            <a:off x="2817780" y="3137838"/>
            <a:ext cx="2877000" cy="20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2d809788eaa_0_29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8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d809788eaa_0_29"/>
          <p:cNvSpPr txBox="1">
            <a:spLocks noGrp="1"/>
          </p:cNvSpPr>
          <p:nvPr>
            <p:ph type="body" idx="6"/>
          </p:nvPr>
        </p:nvSpPr>
        <p:spPr>
          <a:xfrm>
            <a:off x="6522281" y="3135463"/>
            <a:ext cx="2880000" cy="20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2d809788eaa_0_29"/>
          <p:cNvSpPr txBox="1">
            <a:spLocks noGrp="1"/>
          </p:cNvSpPr>
          <p:nvPr>
            <p:ph type="body" idx="7"/>
          </p:nvPr>
        </p:nvSpPr>
        <p:spPr>
          <a:xfrm>
            <a:off x="2814911" y="5382509"/>
            <a:ext cx="2880000" cy="20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2d809788eaa_0_29"/>
          <p:cNvSpPr txBox="1">
            <a:spLocks noGrp="1"/>
          </p:cNvSpPr>
          <p:nvPr>
            <p:ph type="body" idx="8"/>
          </p:nvPr>
        </p:nvSpPr>
        <p:spPr>
          <a:xfrm>
            <a:off x="6522281" y="5380845"/>
            <a:ext cx="2880000" cy="20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809788eaa_0_49"/>
          <p:cNvSpPr>
            <a:spLocks noGrp="1"/>
          </p:cNvSpPr>
          <p:nvPr>
            <p:ph type="pic" idx="2"/>
          </p:nvPr>
        </p:nvSpPr>
        <p:spPr>
          <a:xfrm>
            <a:off x="0" y="0"/>
            <a:ext cx="3857700" cy="6858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54" name="Google Shape;154;g2d809788eaa_0_49"/>
          <p:cNvSpPr txBox="1">
            <a:spLocks noGrp="1"/>
          </p:cNvSpPr>
          <p:nvPr>
            <p:ph type="title"/>
          </p:nvPr>
        </p:nvSpPr>
        <p:spPr>
          <a:xfrm>
            <a:off x="4676931" y="365125"/>
            <a:ext cx="49497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2d809788eaa_0_49"/>
          <p:cNvSpPr txBox="1">
            <a:spLocks noGrp="1"/>
          </p:cNvSpPr>
          <p:nvPr>
            <p:ph type="body" idx="1"/>
          </p:nvPr>
        </p:nvSpPr>
        <p:spPr>
          <a:xfrm>
            <a:off x="4676229" y="1132954"/>
            <a:ext cx="6887400" cy="496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809788eaa_0_56"/>
          <p:cNvSpPr>
            <a:spLocks noGrp="1"/>
          </p:cNvSpPr>
          <p:nvPr>
            <p:ph type="pic" idx="2"/>
          </p:nvPr>
        </p:nvSpPr>
        <p:spPr>
          <a:xfrm>
            <a:off x="-1" y="3420000"/>
            <a:ext cx="3857700" cy="3420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62" name="Google Shape;162;g2d809788eaa_0_56"/>
          <p:cNvSpPr>
            <a:spLocks noGrp="1"/>
          </p:cNvSpPr>
          <p:nvPr>
            <p:ph type="pic" idx="3"/>
          </p:nvPr>
        </p:nvSpPr>
        <p:spPr>
          <a:xfrm>
            <a:off x="-1" y="-1"/>
            <a:ext cx="3857700" cy="3420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63" name="Google Shape;163;g2d809788eaa_0_56"/>
          <p:cNvSpPr txBox="1">
            <a:spLocks noGrp="1"/>
          </p:cNvSpPr>
          <p:nvPr>
            <p:ph type="title"/>
          </p:nvPr>
        </p:nvSpPr>
        <p:spPr>
          <a:xfrm>
            <a:off x="4676931" y="365125"/>
            <a:ext cx="49878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2d809788eaa_0_56"/>
          <p:cNvSpPr txBox="1">
            <a:spLocks noGrp="1"/>
          </p:cNvSpPr>
          <p:nvPr>
            <p:ph type="body" idx="1"/>
          </p:nvPr>
        </p:nvSpPr>
        <p:spPr>
          <a:xfrm>
            <a:off x="4676229" y="1132954"/>
            <a:ext cx="6887400" cy="496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809788eaa_0_85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8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3">
      <a:dk1>
        <a:srgbClr val="222320"/>
      </a:dk1>
      <a:lt1>
        <a:srgbClr val="FFFFFF"/>
      </a:lt1>
      <a:dk2>
        <a:srgbClr val="222320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438</Words>
  <Application>Microsoft Office PowerPoint</Application>
  <PresentationFormat>Widescreen</PresentationFormat>
  <Paragraphs>37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Lato</vt:lpstr>
      <vt:lpstr>Arial</vt:lpstr>
      <vt:lpstr>Calibri</vt:lpstr>
      <vt:lpstr>Tema do Office</vt:lpstr>
      <vt:lpstr>TRABALHO PRATICO 01 LISTA ENCADEADA</vt:lpstr>
      <vt:lpstr>O problema</vt:lpstr>
      <vt:lpstr>Modelagem do problema</vt:lpstr>
      <vt:lpstr>Modelagem do problema</vt:lpstr>
      <vt:lpstr>Apresentação do PowerPoint</vt:lpstr>
      <vt:lpstr>Apresentação do PowerPoint</vt:lpstr>
      <vt:lpstr>Execução do código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Cliente</dc:creator>
  <cp:lastModifiedBy>Luiza Rosa Dos Santos Diogo</cp:lastModifiedBy>
  <cp:revision>1</cp:revision>
  <dcterms:created xsi:type="dcterms:W3CDTF">2023-10-02T14:55:47Z</dcterms:created>
  <dcterms:modified xsi:type="dcterms:W3CDTF">2026-09-03T16:34:03Z</dcterms:modified>
</cp:coreProperties>
</file>